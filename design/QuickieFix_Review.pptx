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outside UI and conversion read of QuickieFix. Covers the Android customer app and the company web portal. Focus: how it looks, and where it wins or loses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screens across three surfaces. I was asked to focus on visual/UI design and conversion. This is an MVP read, so recommendations are weighted toward highest leverage, not exhaustive polish.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Three-sentence version. The bones are good. But small visual bugs are quietly leaking trust, and the core promise — fast, priced upfront — never shows up in the flow where people decide to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lens: visual and UI. Four issues, roughly in order of how much they hurt.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tab bar renders as blank squares with no labels on both home and account. Users literally cannot tell the tabs apart. Highest-priority, lowest-effort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Amber is the brand, but bright blue shows up on Use current location, Camera and Gallery. Two saturated accents compete for the eye and dilute the brand. Pick amber for primary; make supporting actions neutral.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uses big colour emoji tiles; step 1 uses tiny emoji in grey pills. Emoji render differently on every Android device and read as placeholder. Adopt one custom icon set used consistently.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 state problems. The disabled Continue is a washed-out amber that looks broken rather than not-yet-ready. And a brand-new company lands on four bold zeros, which reads as a dead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lens: conversion. Where users hesitate, and what to surface so they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biggest lever. Your pitch is minutes, verified, priced upfront — but ETA, price and availability never appear before Find me a tradie. Surface them and you convert on the promise instead of asking for blind faith.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On-demand urgency but a cold email/password wall. NZ consumers expect phone OTP. Also consider letting people describe the job first and only create the account once they've seen matches — defer the commitment.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Verified, rated, licensed is promised on the welcome screen then disappears for the four steps where the user is actually deciding to let a stranger into their home. Reinforce trust in-flow.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crams two decisions — when (now vs later) and how to match — plus a critical emergency checkbox that's easy to miss. Separate the decisions and make emergency unmissable with 111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company signs up and sees empty zeros. The activation moment is adding tradies and setting a rate card. Turn the dashboard into a setup checklist that pulls them to first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 recommendations, mocked up. These are quick concept renders in your brand, not final designs — meant to make the direction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 reworked. Real line-icon set at one weight, amber-only, a visible labelled nav bar, and the promise — 12 verified nearby, ~8 min, from 89 dollars — pulled up top where it drives the tap.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step. Before committing, the user sees ETA, a from-price, and the actual matched tradie with rating, jobs done and a licence badge. The CTA restates the promise: Confirm, Mike arrives in about 8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portal first-run. Instead of four cold zeros, a company sees a setup checklist with one clear next action — add your first tradie — and a promise that the dashboard unlocks on first completed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Sequenced by leverage. Do the quick wins this week, they cost almost nothing and stop the trust leak. Then the high-impact bets that convert on the promise. The rest is ongoing polish.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takeaway: the product works, but it looks unfinished and hides its best selling points. Fix the visual leaks, put the promise in the flow, and the same app will convert far better. Happy to mock any of these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1.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424"/>
        </a:solidFill>
      </p:bgPr>
    </p:bg>
    <p:spTree>
      <p:nvGrpSpPr>
        <p:cNvPr id="1" name=""/>
        <p:cNvGrpSpPr/>
        <p:nvPr/>
      </p:nvGrpSpPr>
      <p:grpSpPr>
        <a:xfrm>
          <a:off x="0" y="0"/>
          <a:ext cx="0" cy="0"/>
          <a:chOff x="0" y="0"/>
          <a:chExt cx="0" cy="0"/>
        </a:xfrm>
      </p:grpSpPr>
      <p:sp>
        <p:nvSpPr>
          <p:cNvPr id="2" name="Shape 0"/>
          <p:cNvSpPr/>
          <p:nvPr/>
        </p:nvSpPr>
        <p:spPr>
          <a:xfrm>
            <a:off x="1047750" y="914301"/>
            <a:ext cx="495267" cy="495267"/>
          </a:xfrm>
          <a:prstGeom prst="roundRect">
            <a:avLst>
              <a:gd name="adj" fmla="val 26925"/>
            </a:avLst>
          </a:prstGeom>
          <a:solidFill>
            <a:srgbClr val="FBB040"/>
          </a:solidFill>
          <a:ln/>
        </p:spPr>
      </p:sp>
      <p:sp>
        <p:nvSpPr>
          <p:cNvPr id="3" name="Text 1"/>
          <p:cNvSpPr/>
          <p:nvPr/>
        </p:nvSpPr>
        <p:spPr>
          <a:xfrm>
            <a:off x="1009650" y="914301"/>
            <a:ext cx="571467" cy="533367"/>
          </a:xfrm>
          <a:prstGeom prst="rect">
            <a:avLst/>
          </a:prstGeom>
          <a:noFill/>
          <a:ln/>
        </p:spPr>
        <p:txBody>
          <a:bodyPr wrap="square" lIns="25400" tIns="25400" rIns="25400" bIns="25400" rtlCol="0" anchor="ctr">
            <a:normAutofit/>
          </a:bodyPr>
          <a:lstStyle/>
          <a:p>
            <a:pPr algn="ctr" indent="0" marL="0">
              <a:buNone/>
            </a:pPr>
            <a:r>
              <a:rPr lang="en-US" sz="2250" b="1" dirty="0">
                <a:solidFill>
                  <a:srgbClr val="0D1424"/>
                </a:solidFill>
                <a:latin typeface="Archivo" pitchFamily="34" charset="0"/>
                <a:ea typeface="Archivo" pitchFamily="34" charset="-122"/>
                <a:cs typeface="Archivo" pitchFamily="34" charset="-120"/>
              </a:rPr>
              <a:t>Q</a:t>
            </a:r>
            <a:endParaRPr lang="en-US" sz="2250" dirty="0"/>
          </a:p>
        </p:txBody>
      </p:sp>
      <p:sp>
        <p:nvSpPr>
          <p:cNvPr id="4" name="Text 2"/>
          <p:cNvSpPr/>
          <p:nvPr/>
        </p:nvSpPr>
        <p:spPr>
          <a:xfrm>
            <a:off x="1695318" y="1003102"/>
            <a:ext cx="1665304" cy="355600"/>
          </a:xfrm>
          <a:prstGeom prst="rect">
            <a:avLst/>
          </a:prstGeom>
          <a:noFill/>
          <a:ln/>
        </p:spPr>
        <p:txBody>
          <a:bodyPr wrap="square" lIns="25400" tIns="25400" rIns="25400" bIns="25400" rtlCol="0" anchor="t">
            <a:normAutofit/>
          </a:bodyPr>
          <a:lstStyle/>
          <a:p>
            <a:pPr algn="l" indent="0" marL="0">
              <a:buNone/>
            </a:pPr>
            <a:r>
              <a:rPr lang="en-US" sz="2250" b="1" spc="-22" kern="0" dirty="0">
                <a:solidFill>
                  <a:srgbClr val="EAEEF6"/>
                </a:solidFill>
                <a:latin typeface="Archivo" pitchFamily="34" charset="0"/>
                <a:ea typeface="Archivo" pitchFamily="34" charset="-122"/>
                <a:cs typeface="Archivo" pitchFamily="34" charset="-120"/>
              </a:rPr>
              <a:t>Quickie</a:t>
            </a:r>
            <a:pPr algn="l" indent="0" marL="0">
              <a:buNone/>
            </a:pPr>
            <a:r>
              <a:rPr lang="en-US" sz="2250" b="1" spc="-22" kern="0" dirty="0">
                <a:solidFill>
                  <a:srgbClr val="FBB040"/>
                </a:solidFill>
                <a:latin typeface="Archivo" pitchFamily="34" charset="0"/>
                <a:ea typeface="Archivo" pitchFamily="34" charset="-122"/>
                <a:cs typeface="Archivo" pitchFamily="34" charset="-120"/>
              </a:rPr>
              <a:t>Fix</a:t>
            </a:r>
            <a:endParaRPr lang="en-US" sz="2250" dirty="0"/>
          </a:p>
        </p:txBody>
      </p:sp>
      <p:sp>
        <p:nvSpPr>
          <p:cNvPr id="5" name="Text 3"/>
          <p:cNvSpPr/>
          <p:nvPr/>
        </p:nvSpPr>
        <p:spPr>
          <a:xfrm>
            <a:off x="1047750" y="3019558"/>
            <a:ext cx="17811751" cy="292100"/>
          </a:xfrm>
          <a:prstGeom prst="rect">
            <a:avLst/>
          </a:prstGeom>
          <a:noFill/>
          <a:ln/>
        </p:spPr>
        <p:txBody>
          <a:bodyPr wrap="square" lIns="25400" tIns="25400" rIns="25400" bIns="25400" rtlCol="0" anchor="t">
            <a:normAutofit/>
          </a:bodyPr>
          <a:lstStyle/>
          <a:p>
            <a:pPr algn="l" indent="0" marL="0">
              <a:buNone/>
            </a:pPr>
            <a:r>
              <a:rPr lang="en-US" sz="1800" b="1" spc="324" kern="0" dirty="0">
                <a:solidFill>
                  <a:srgbClr val="F59B1E"/>
                </a:solidFill>
                <a:latin typeface="Archivo" pitchFamily="34" charset="0"/>
                <a:ea typeface="Archivo" pitchFamily="34" charset="-122"/>
                <a:cs typeface="Archivo" pitchFamily="34" charset="-120"/>
              </a:rPr>
              <a:t>PRODUCT REVIEW · JULY 2026</a:t>
            </a:r>
            <a:endParaRPr lang="en-US" sz="1800" dirty="0"/>
          </a:p>
        </p:txBody>
      </p:sp>
      <p:sp>
        <p:nvSpPr>
          <p:cNvPr id="6" name="Text 4"/>
          <p:cNvSpPr/>
          <p:nvPr/>
        </p:nvSpPr>
        <p:spPr>
          <a:xfrm>
            <a:off x="1047750" y="3597341"/>
            <a:ext cx="16678276" cy="2451762"/>
          </a:xfrm>
          <a:prstGeom prst="rect">
            <a:avLst/>
          </a:prstGeom>
          <a:noFill/>
          <a:ln/>
        </p:spPr>
        <p:txBody>
          <a:bodyPr wrap="square" lIns="25400" tIns="25400" rIns="25400" bIns="25400" rtlCol="0" anchor="t">
            <a:normAutofit/>
          </a:bodyPr>
          <a:lstStyle/>
          <a:p>
            <a:pPr algn="l" indent="0" marL="0">
              <a:lnSpc>
                <a:spcPct val="88409"/>
              </a:lnSpc>
              <a:buNone/>
            </a:pPr>
            <a:r>
              <a:rPr lang="en-US" sz="9900" b="1" spc="-297" kern="0" dirty="0">
                <a:solidFill>
                  <a:srgbClr val="EAEEF6"/>
                </a:solidFill>
                <a:latin typeface="Archivo" pitchFamily="34" charset="0"/>
                <a:ea typeface="Archivo" pitchFamily="34" charset="-122"/>
                <a:cs typeface="Archivo" pitchFamily="34" charset="-120"/>
              </a:rPr>
              <a:t>UI &amp; conversion review</a:t>
            </a:r>
            <a:endParaRPr lang="en-US" sz="9900" dirty="0"/>
          </a:p>
        </p:txBody>
      </p:sp>
      <p:sp>
        <p:nvSpPr>
          <p:cNvPr id="7" name="Text 5"/>
          <p:cNvSpPr/>
          <p:nvPr/>
        </p:nvSpPr>
        <p:spPr>
          <a:xfrm>
            <a:off x="1047750" y="6392003"/>
            <a:ext cx="10301288" cy="998207"/>
          </a:xfrm>
          <a:prstGeom prst="rect">
            <a:avLst/>
          </a:prstGeom>
          <a:noFill/>
          <a:ln/>
        </p:spPr>
        <p:txBody>
          <a:bodyPr wrap="square" lIns="25400" tIns="25400" rIns="25400" bIns="25400" rtlCol="0" anchor="t">
            <a:normAutofit/>
          </a:bodyPr>
          <a:lstStyle/>
          <a:p>
            <a:pPr algn="l" indent="0" marL="0">
              <a:lnSpc>
                <a:spcPct val="116308"/>
              </a:lnSpc>
              <a:buNone/>
            </a:pPr>
            <a:r>
              <a:rPr lang="en-US" sz="2700" dirty="0">
                <a:solidFill>
                  <a:srgbClr val="8A97AE"/>
                </a:solidFill>
                <a:latin typeface="Figtree" pitchFamily="34" charset="0"/>
                <a:ea typeface="Figtree" pitchFamily="34" charset="-122"/>
                <a:cs typeface="Figtree" pitchFamily="34" charset="-120"/>
              </a:rPr>
              <a:t>An outside read on how the app looks today — and the handful of changes most likely to move users from install to booked job.</a:t>
            </a:r>
            <a:endParaRPr lang="en-US" sz="2700" dirty="0"/>
          </a:p>
        </p:txBody>
      </p:sp>
      <p:sp>
        <p:nvSpPr>
          <p:cNvPr id="8" name="Shape 6"/>
          <p:cNvSpPr/>
          <p:nvPr/>
        </p:nvSpPr>
        <p:spPr>
          <a:xfrm>
            <a:off x="1047750" y="8962099"/>
            <a:ext cx="2761423" cy="524867"/>
          </a:xfrm>
          <a:prstGeom prst="roundRect">
            <a:avLst>
              <a:gd name="adj" fmla="val 50000"/>
            </a:avLst>
          </a:prstGeom>
          <a:ln w="10583">
            <a:solidFill>
              <a:srgbClr val="EAEEF6">
                <a:alpha val="18000"/>
              </a:srgbClr>
            </a:solidFill>
            <a:prstDash val="solid"/>
          </a:ln>
        </p:spPr>
      </p:sp>
      <p:sp>
        <p:nvSpPr>
          <p:cNvPr id="9" name="Text 7"/>
          <p:cNvSpPr/>
          <p:nvPr/>
        </p:nvSpPr>
        <p:spPr>
          <a:xfrm>
            <a:off x="1267883" y="9086983"/>
            <a:ext cx="2403999" cy="313201"/>
          </a:xfrm>
          <a:prstGeom prst="rect">
            <a:avLst/>
          </a:prstGeom>
          <a:noFill/>
          <a:ln/>
        </p:spPr>
        <p:txBody>
          <a:bodyPr wrap="square" lIns="25400" tIns="25400" rIns="25400" bIns="25400" rtlCol="0" anchor="t">
            <a:normAutofit/>
          </a:bodyPr>
          <a:lstStyle/>
          <a:p>
            <a:pPr algn="l" indent="0" marL="0">
              <a:buNone/>
            </a:pPr>
            <a:r>
              <a:rPr lang="en-US" sz="1800" b="1" dirty="0">
                <a:solidFill>
                  <a:srgbClr val="EAEEF6"/>
                </a:solidFill>
                <a:latin typeface="Figtree" pitchFamily="34" charset="0"/>
                <a:ea typeface="Figtree" pitchFamily="34" charset="-122"/>
                <a:cs typeface="Figtree" pitchFamily="34" charset="-120"/>
              </a:rPr>
              <a:t>Android customer app</a:t>
            </a:r>
            <a:endParaRPr lang="en-US" sz="1800" dirty="0"/>
          </a:p>
        </p:txBody>
      </p:sp>
      <p:sp>
        <p:nvSpPr>
          <p:cNvPr id="10" name="Shape 8"/>
          <p:cNvSpPr/>
          <p:nvPr/>
        </p:nvSpPr>
        <p:spPr>
          <a:xfrm>
            <a:off x="3942457" y="8962099"/>
            <a:ext cx="2495186" cy="524867"/>
          </a:xfrm>
          <a:prstGeom prst="roundRect">
            <a:avLst>
              <a:gd name="adj" fmla="val 50000"/>
            </a:avLst>
          </a:prstGeom>
          <a:ln w="10583">
            <a:solidFill>
              <a:srgbClr val="EAEEF6">
                <a:alpha val="18000"/>
              </a:srgbClr>
            </a:solidFill>
            <a:prstDash val="solid"/>
          </a:ln>
        </p:spPr>
      </p:sp>
      <p:sp>
        <p:nvSpPr>
          <p:cNvPr id="11" name="Text 9"/>
          <p:cNvSpPr/>
          <p:nvPr/>
        </p:nvSpPr>
        <p:spPr>
          <a:xfrm>
            <a:off x="4162591" y="9086983"/>
            <a:ext cx="2131120" cy="313201"/>
          </a:xfrm>
          <a:prstGeom prst="rect">
            <a:avLst/>
          </a:prstGeom>
          <a:noFill/>
          <a:ln/>
        </p:spPr>
        <p:txBody>
          <a:bodyPr wrap="square" lIns="25400" tIns="25400" rIns="25400" bIns="25400" rtlCol="0" anchor="t">
            <a:normAutofit/>
          </a:bodyPr>
          <a:lstStyle/>
          <a:p>
            <a:pPr algn="l" indent="0" marL="0">
              <a:buNone/>
            </a:pPr>
            <a:r>
              <a:rPr lang="en-US" sz="1800" b="1" dirty="0">
                <a:solidFill>
                  <a:srgbClr val="EAEEF6"/>
                </a:solidFill>
                <a:latin typeface="Figtree" pitchFamily="34" charset="0"/>
                <a:ea typeface="Figtree" pitchFamily="34" charset="-122"/>
                <a:cs typeface="Figtree" pitchFamily="34" charset="-120"/>
              </a:rPr>
              <a:t>4-step request flow</a:t>
            </a:r>
            <a:endParaRPr lang="en-US" sz="1800" dirty="0"/>
          </a:p>
        </p:txBody>
      </p:sp>
      <p:sp>
        <p:nvSpPr>
          <p:cNvPr id="12" name="Shape 10"/>
          <p:cNvSpPr/>
          <p:nvPr/>
        </p:nvSpPr>
        <p:spPr>
          <a:xfrm>
            <a:off x="6570927" y="8962099"/>
            <a:ext cx="2613422" cy="524867"/>
          </a:xfrm>
          <a:prstGeom prst="roundRect">
            <a:avLst>
              <a:gd name="adj" fmla="val 50000"/>
            </a:avLst>
          </a:prstGeom>
          <a:ln w="10583">
            <a:solidFill>
              <a:srgbClr val="EAEEF6">
                <a:alpha val="18000"/>
              </a:srgbClr>
            </a:solidFill>
            <a:prstDash val="solid"/>
          </a:ln>
        </p:spPr>
      </p:sp>
      <p:sp>
        <p:nvSpPr>
          <p:cNvPr id="13" name="Text 11"/>
          <p:cNvSpPr/>
          <p:nvPr/>
        </p:nvSpPr>
        <p:spPr>
          <a:xfrm>
            <a:off x="6791061" y="9086983"/>
            <a:ext cx="2251558" cy="313201"/>
          </a:xfrm>
          <a:prstGeom prst="rect">
            <a:avLst/>
          </a:prstGeom>
          <a:noFill/>
          <a:ln/>
        </p:spPr>
        <p:txBody>
          <a:bodyPr wrap="square" lIns="25400" tIns="25400" rIns="25400" bIns="25400" rtlCol="0" anchor="t">
            <a:normAutofit/>
          </a:bodyPr>
          <a:lstStyle/>
          <a:p>
            <a:pPr algn="l" indent="0" marL="0">
              <a:buNone/>
            </a:pPr>
            <a:r>
              <a:rPr lang="en-US" sz="1800" b="1" dirty="0">
                <a:solidFill>
                  <a:srgbClr val="EAEEF6"/>
                </a:solidFill>
                <a:latin typeface="Figtree" pitchFamily="34" charset="0"/>
                <a:ea typeface="Figtree" pitchFamily="34" charset="-122"/>
                <a:cs typeface="Figtree" pitchFamily="34" charset="-120"/>
              </a:rPr>
              <a:t>Company web portal</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1047750" y="857250"/>
            <a:ext cx="17811751" cy="2921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F59B1E"/>
                </a:solidFill>
                <a:latin typeface="Archivo" pitchFamily="34" charset="0"/>
                <a:ea typeface="Archivo" pitchFamily="34" charset="-122"/>
                <a:cs typeface="Archivo" pitchFamily="34" charset="-120"/>
              </a:rPr>
              <a:t>SCOPE</a:t>
            </a:r>
            <a:endParaRPr lang="en-US" sz="1800" dirty="0"/>
          </a:p>
        </p:txBody>
      </p:sp>
      <p:sp>
        <p:nvSpPr>
          <p:cNvPr id="3" name="Text 1"/>
          <p:cNvSpPr/>
          <p:nvPr/>
        </p:nvSpPr>
        <p:spPr>
          <a:xfrm>
            <a:off x="1047750" y="1301750"/>
            <a:ext cx="17811751" cy="679384"/>
          </a:xfrm>
          <a:prstGeom prst="rect">
            <a:avLst/>
          </a:prstGeom>
          <a:noFill/>
          <a:ln/>
        </p:spPr>
        <p:txBody>
          <a:bodyPr wrap="square" lIns="25400" tIns="25400" rIns="25400" bIns="25400" rtlCol="0" anchor="t">
            <a:normAutofit/>
          </a:bodyPr>
          <a:lstStyle/>
          <a:p>
            <a:pPr algn="l" indent="0" marL="0">
              <a:lnSpc>
                <a:spcPct val="94669"/>
              </a:lnSpc>
              <a:buNone/>
            </a:pPr>
            <a:r>
              <a:rPr lang="en-US" sz="4950" b="1" spc="-99" kern="0" dirty="0">
                <a:solidFill>
                  <a:srgbClr val="0F172A"/>
                </a:solidFill>
                <a:latin typeface="Archivo" pitchFamily="34" charset="0"/>
                <a:ea typeface="Archivo" pitchFamily="34" charset="-122"/>
                <a:cs typeface="Archivo" pitchFamily="34" charset="-120"/>
              </a:rPr>
              <a:t>What I looked at</a:t>
            </a:r>
            <a:endParaRPr lang="en-US" sz="4950" dirty="0"/>
          </a:p>
        </p:txBody>
      </p:sp>
      <p:sp>
        <p:nvSpPr>
          <p:cNvPr id="4" name="Text 2"/>
          <p:cNvSpPr/>
          <p:nvPr/>
        </p:nvSpPr>
        <p:spPr>
          <a:xfrm>
            <a:off x="1047750" y="2362068"/>
            <a:ext cx="5029200" cy="355600"/>
          </a:xfrm>
          <a:prstGeom prst="rect">
            <a:avLst/>
          </a:prstGeom>
          <a:noFill/>
          <a:ln/>
        </p:spPr>
        <p:txBody>
          <a:bodyPr wrap="square" lIns="25400" tIns="25400" rIns="25400" bIns="25400" rtlCol="0" anchor="t">
            <a:normAutofit/>
          </a:bodyPr>
          <a:lstStyle/>
          <a:p>
            <a:pPr algn="l" indent="0" marL="0">
              <a:buNone/>
            </a:pPr>
            <a:r>
              <a:rPr lang="en-US" sz="2250" b="1" dirty="0">
                <a:solidFill>
                  <a:srgbClr val="0F172A"/>
                </a:solidFill>
                <a:latin typeface="Archivo" pitchFamily="34" charset="0"/>
                <a:ea typeface="Archivo" pitchFamily="34" charset="-122"/>
                <a:cs typeface="Archivo" pitchFamily="34" charset="-120"/>
              </a:rPr>
              <a:t>10 screens, 3 surfaces</a:t>
            </a:r>
            <a:endParaRPr lang="en-US" sz="2250" dirty="0"/>
          </a:p>
        </p:txBody>
      </p:sp>
      <p:sp>
        <p:nvSpPr>
          <p:cNvPr id="5" name="Text 3"/>
          <p:cNvSpPr/>
          <p:nvPr/>
        </p:nvSpPr>
        <p:spPr>
          <a:xfrm>
            <a:off x="1047750" y="2774818"/>
            <a:ext cx="4709160" cy="1638168"/>
          </a:xfrm>
          <a:prstGeom prst="rect">
            <a:avLst/>
          </a:prstGeom>
          <a:noFill/>
          <a:ln/>
        </p:spPr>
        <p:txBody>
          <a:bodyPr wrap="square" lIns="25400" tIns="25400" rIns="25400" bIns="25400" rtlCol="0" anchor="t">
            <a:normAutofit/>
          </a:bodyPr>
          <a:lstStyle/>
          <a:p>
            <a:pPr algn="l" indent="0" marL="0">
              <a:lnSpc>
                <a:spcPct val="126000"/>
              </a:lnSpc>
              <a:buNone/>
            </a:pPr>
            <a:r>
              <a:rPr lang="en-US" sz="2100" dirty="0">
                <a:solidFill>
                  <a:srgbClr val="5B6B85"/>
                </a:solidFill>
                <a:latin typeface="Figtree" pitchFamily="34" charset="0"/>
                <a:ea typeface="Figtree" pitchFamily="34" charset="-122"/>
                <a:cs typeface="Figtree" pitchFamily="34" charset="-120"/>
              </a:rPr>
              <a:t>Welcome &amp; login · customer home &amp; account · the four-step new-job flow · the company dashboard &amp; My Tradies portal.</a:t>
            </a:r>
            <a:endParaRPr lang="en-US" sz="2100" dirty="0"/>
          </a:p>
        </p:txBody>
      </p:sp>
      <p:sp>
        <p:nvSpPr>
          <p:cNvPr id="6" name="Text 4"/>
          <p:cNvSpPr/>
          <p:nvPr/>
        </p:nvSpPr>
        <p:spPr>
          <a:xfrm>
            <a:off x="1047750" y="4698670"/>
            <a:ext cx="5029200" cy="355600"/>
          </a:xfrm>
          <a:prstGeom prst="rect">
            <a:avLst/>
          </a:prstGeom>
          <a:noFill/>
          <a:ln/>
        </p:spPr>
        <p:txBody>
          <a:bodyPr wrap="square" lIns="25400" tIns="25400" rIns="25400" bIns="25400" rtlCol="0" anchor="t">
            <a:normAutofit/>
          </a:bodyPr>
          <a:lstStyle/>
          <a:p>
            <a:pPr algn="l" indent="0" marL="0">
              <a:buNone/>
            </a:pPr>
            <a:r>
              <a:rPr lang="en-US" sz="2250" b="1" dirty="0">
                <a:solidFill>
                  <a:srgbClr val="0F172A"/>
                </a:solidFill>
                <a:latin typeface="Archivo" pitchFamily="34" charset="0"/>
                <a:ea typeface="Archivo" pitchFamily="34" charset="-122"/>
                <a:cs typeface="Archivo" pitchFamily="34" charset="-120"/>
              </a:rPr>
              <a:t>Two lenses, by request</a:t>
            </a:r>
            <a:endParaRPr lang="en-US" sz="2250" dirty="0"/>
          </a:p>
        </p:txBody>
      </p:sp>
      <p:sp>
        <p:nvSpPr>
          <p:cNvPr id="7" name="Shape 5"/>
          <p:cNvSpPr/>
          <p:nvPr/>
        </p:nvSpPr>
        <p:spPr>
          <a:xfrm>
            <a:off x="1047750" y="5111419"/>
            <a:ext cx="1516228" cy="503701"/>
          </a:xfrm>
          <a:prstGeom prst="roundRect">
            <a:avLst>
              <a:gd name="adj" fmla="val 50000"/>
            </a:avLst>
          </a:prstGeom>
          <a:solidFill>
            <a:srgbClr val="0D1424"/>
          </a:solidFill>
          <a:ln/>
        </p:spPr>
      </p:sp>
      <p:sp>
        <p:nvSpPr>
          <p:cNvPr id="8" name="Text 6"/>
          <p:cNvSpPr/>
          <p:nvPr/>
        </p:nvSpPr>
        <p:spPr>
          <a:xfrm>
            <a:off x="1276350" y="5225719"/>
            <a:ext cx="1135228" cy="313201"/>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Figtree" pitchFamily="34" charset="0"/>
                <a:ea typeface="Figtree" pitchFamily="34" charset="-122"/>
                <a:cs typeface="Figtree" pitchFamily="34" charset="-120"/>
              </a:rPr>
              <a:t>Visual / UI</a:t>
            </a:r>
            <a:endParaRPr lang="en-US" sz="1800" dirty="0"/>
          </a:p>
        </p:txBody>
      </p:sp>
      <p:sp>
        <p:nvSpPr>
          <p:cNvPr id="9" name="Shape 7"/>
          <p:cNvSpPr/>
          <p:nvPr/>
        </p:nvSpPr>
        <p:spPr>
          <a:xfrm>
            <a:off x="2678245" y="5111419"/>
            <a:ext cx="1647527" cy="503701"/>
          </a:xfrm>
          <a:prstGeom prst="roundRect">
            <a:avLst>
              <a:gd name="adj" fmla="val 50000"/>
            </a:avLst>
          </a:prstGeom>
          <a:solidFill>
            <a:srgbClr val="FBB040"/>
          </a:solidFill>
          <a:ln/>
        </p:spPr>
      </p:sp>
      <p:sp>
        <p:nvSpPr>
          <p:cNvPr id="10" name="Text 8"/>
          <p:cNvSpPr/>
          <p:nvPr/>
        </p:nvSpPr>
        <p:spPr>
          <a:xfrm>
            <a:off x="2906845" y="5225719"/>
            <a:ext cx="1266527" cy="313201"/>
          </a:xfrm>
          <a:prstGeom prst="rect">
            <a:avLst/>
          </a:prstGeom>
          <a:noFill/>
          <a:ln/>
        </p:spPr>
        <p:txBody>
          <a:bodyPr wrap="square" lIns="25400" tIns="25400" rIns="25400" bIns="25400" rtlCol="0" anchor="t">
            <a:normAutofit/>
          </a:bodyPr>
          <a:lstStyle/>
          <a:p>
            <a:pPr algn="l" indent="0" marL="0">
              <a:buNone/>
            </a:pPr>
            <a:r>
              <a:rPr lang="en-US" sz="1800" b="1" dirty="0">
                <a:solidFill>
                  <a:srgbClr val="0D1424"/>
                </a:solidFill>
                <a:latin typeface="Figtree" pitchFamily="34" charset="0"/>
                <a:ea typeface="Figtree" pitchFamily="34" charset="-122"/>
                <a:cs typeface="Figtree" pitchFamily="34" charset="-120"/>
              </a:rPr>
              <a:t>Conversion</a:t>
            </a:r>
            <a:endParaRPr lang="en-US" sz="1800" dirty="0"/>
          </a:p>
        </p:txBody>
      </p:sp>
      <p:sp>
        <p:nvSpPr>
          <p:cNvPr id="11" name="Text 9"/>
          <p:cNvSpPr/>
          <p:nvPr/>
        </p:nvSpPr>
        <p:spPr>
          <a:xfrm>
            <a:off x="1047750" y="5938904"/>
            <a:ext cx="5029200" cy="355600"/>
          </a:xfrm>
          <a:prstGeom prst="rect">
            <a:avLst/>
          </a:prstGeom>
          <a:noFill/>
          <a:ln/>
        </p:spPr>
        <p:txBody>
          <a:bodyPr wrap="square" lIns="25400" tIns="25400" rIns="25400" bIns="25400" rtlCol="0" anchor="t">
            <a:normAutofit/>
          </a:bodyPr>
          <a:lstStyle/>
          <a:p>
            <a:pPr algn="l" indent="0" marL="0">
              <a:buNone/>
            </a:pPr>
            <a:r>
              <a:rPr lang="en-US" sz="2250" b="1" dirty="0">
                <a:solidFill>
                  <a:srgbClr val="0F172A"/>
                </a:solidFill>
                <a:latin typeface="Archivo" pitchFamily="34" charset="0"/>
                <a:ea typeface="Archivo" pitchFamily="34" charset="-122"/>
                <a:cs typeface="Archivo" pitchFamily="34" charset="-120"/>
              </a:rPr>
              <a:t>MVP-appropriate</a:t>
            </a:r>
            <a:endParaRPr lang="en-US" sz="2250" dirty="0"/>
          </a:p>
        </p:txBody>
      </p:sp>
      <p:sp>
        <p:nvSpPr>
          <p:cNvPr id="12" name="Text 10"/>
          <p:cNvSpPr/>
          <p:nvPr/>
        </p:nvSpPr>
        <p:spPr>
          <a:xfrm>
            <a:off x="1047750" y="6351654"/>
            <a:ext cx="4709160" cy="1238151"/>
          </a:xfrm>
          <a:prstGeom prst="rect">
            <a:avLst/>
          </a:prstGeom>
          <a:noFill/>
          <a:ln/>
        </p:spPr>
        <p:txBody>
          <a:bodyPr wrap="square" lIns="25400" tIns="25400" rIns="25400" bIns="25400" rtlCol="0" anchor="t">
            <a:normAutofit/>
          </a:bodyPr>
          <a:lstStyle/>
          <a:p>
            <a:pPr algn="l" indent="0" marL="0">
              <a:lnSpc>
                <a:spcPct val="126000"/>
              </a:lnSpc>
              <a:buNone/>
            </a:pPr>
            <a:r>
              <a:rPr lang="en-US" sz="2100" dirty="0">
                <a:solidFill>
                  <a:srgbClr val="5B6B85"/>
                </a:solidFill>
                <a:latin typeface="Figtree" pitchFamily="34" charset="0"/>
                <a:ea typeface="Figtree" pitchFamily="34" charset="-122"/>
                <a:cs typeface="Figtree" pitchFamily="34" charset="-120"/>
              </a:rPr>
              <a:t>Recommendations are ranked by leverage — what earns trust and bookings first, not a full polish pass.</a:t>
            </a:r>
            <a:endParaRPr lang="en-US" sz="2100" dirty="0"/>
          </a:p>
        </p:txBody>
      </p:sp>
      <p:sp>
        <p:nvSpPr>
          <p:cNvPr id="13" name="Shape 11"/>
          <p:cNvSpPr/>
          <p:nvPr/>
        </p:nvSpPr>
        <p:spPr>
          <a:xfrm>
            <a:off x="6229284" y="2362068"/>
            <a:ext cx="2624171" cy="5654311"/>
          </a:xfrm>
          <a:prstGeom prst="roundRect">
            <a:avLst>
              <a:gd name="adj" fmla="val 5082"/>
            </a:avLst>
          </a:prstGeom>
          <a:ln w="10583">
            <a:solidFill>
              <a:srgbClr val="0F172A">
                <a:alpha val="6000"/>
              </a:srgbClr>
            </a:solidFill>
            <a:prstDash val="solid"/>
          </a:ln>
          <a:effectLst>
            <a:outerShdw sx="100000" sy="100000" kx="0" ky="0" algn="bl" rotWithShape="0" blurRad="285750" dist="114300" dir="5400000">
              <a:srgbClr val="0D1424">
                <a:alpha val="12000"/>
              </a:srgbClr>
            </a:outerShdw>
          </a:effectLst>
        </p:spPr>
      </p:sp>
      <p:pic>
        <p:nvPicPr>
          <p:cNvPr id="14" name="Image 0" descr="preencoded.png">    </p:cNvPr>
          <p:cNvPicPr>
            <a:picLocks noChangeAspect="1"/>
          </p:cNvPicPr>
          <p:nvPr/>
        </p:nvPicPr>
        <p:blipFill>
          <a:blip r:embed="rId1"/>
          <a:stretch>
            <a:fillRect/>
          </a:stretch>
        </p:blipFill>
        <p:spPr>
          <a:xfrm>
            <a:off x="6229284" y="2362068"/>
            <a:ext cx="2624171" cy="5654311"/>
          </a:xfrm>
          <a:prstGeom prst="rect">
            <a:avLst/>
          </a:prstGeom>
        </p:spPr>
      </p:pic>
      <p:sp>
        <p:nvSpPr>
          <p:cNvPr id="15" name="Shape 12"/>
          <p:cNvSpPr/>
          <p:nvPr/>
        </p:nvSpPr>
        <p:spPr>
          <a:xfrm>
            <a:off x="9024772" y="2362068"/>
            <a:ext cx="2624336" cy="5654642"/>
          </a:xfrm>
          <a:prstGeom prst="roundRect">
            <a:avLst>
              <a:gd name="adj" fmla="val 5081"/>
            </a:avLst>
          </a:prstGeom>
          <a:ln w="10583">
            <a:solidFill>
              <a:srgbClr val="0F172A">
                <a:alpha val="6000"/>
              </a:srgbClr>
            </a:solidFill>
            <a:prstDash val="solid"/>
          </a:ln>
          <a:effectLst>
            <a:outerShdw sx="100000" sy="100000" kx="0" ky="0" algn="bl" rotWithShape="0" blurRad="285750" dist="114300" dir="5400000">
              <a:srgbClr val="0D1424">
                <a:alpha val="12000"/>
              </a:srgbClr>
            </a:outerShdw>
          </a:effectLst>
        </p:spPr>
      </p:sp>
      <p:pic>
        <p:nvPicPr>
          <p:cNvPr id="16" name="Image 1" descr="preencoded.png">    </p:cNvPr>
          <p:cNvPicPr>
            <a:picLocks noChangeAspect="1"/>
          </p:cNvPicPr>
          <p:nvPr/>
        </p:nvPicPr>
        <p:blipFill>
          <a:blip r:embed="rId2"/>
          <a:stretch>
            <a:fillRect/>
          </a:stretch>
        </p:blipFill>
        <p:spPr>
          <a:xfrm>
            <a:off x="9024772" y="2362068"/>
            <a:ext cx="2624336" cy="5654642"/>
          </a:xfrm>
          <a:prstGeom prst="rect">
            <a:avLst/>
          </a:prstGeom>
        </p:spPr>
      </p:pic>
      <p:sp>
        <p:nvSpPr>
          <p:cNvPr id="17" name="Shape 13"/>
          <p:cNvSpPr/>
          <p:nvPr/>
        </p:nvSpPr>
        <p:spPr>
          <a:xfrm>
            <a:off x="11820426" y="2362068"/>
            <a:ext cx="2624171" cy="5654311"/>
          </a:xfrm>
          <a:prstGeom prst="roundRect">
            <a:avLst>
              <a:gd name="adj" fmla="val 5082"/>
            </a:avLst>
          </a:prstGeom>
          <a:ln w="10583">
            <a:solidFill>
              <a:srgbClr val="0F172A">
                <a:alpha val="6000"/>
              </a:srgbClr>
            </a:solidFill>
            <a:prstDash val="solid"/>
          </a:ln>
          <a:effectLst>
            <a:outerShdw sx="100000" sy="100000" kx="0" ky="0" algn="bl" rotWithShape="0" blurRad="285750" dist="114300" dir="5400000">
              <a:srgbClr val="0D1424">
                <a:alpha val="12000"/>
              </a:srgbClr>
            </a:outerShdw>
          </a:effectLst>
        </p:spPr>
      </p:sp>
      <p:pic>
        <p:nvPicPr>
          <p:cNvPr id="18" name="Image 2" descr="preencoded.png">    </p:cNvPr>
          <p:cNvPicPr>
            <a:picLocks noChangeAspect="1"/>
          </p:cNvPicPr>
          <p:nvPr/>
        </p:nvPicPr>
        <p:blipFill>
          <a:blip r:embed="rId3"/>
          <a:stretch>
            <a:fillRect/>
          </a:stretch>
        </p:blipFill>
        <p:spPr>
          <a:xfrm>
            <a:off x="11820426" y="2362068"/>
            <a:ext cx="2624171" cy="5654311"/>
          </a:xfrm>
          <a:prstGeom prst="rect">
            <a:avLst/>
          </a:prstGeom>
        </p:spPr>
      </p:pic>
      <p:sp>
        <p:nvSpPr>
          <p:cNvPr id="19" name="Shape 14"/>
          <p:cNvSpPr/>
          <p:nvPr/>
        </p:nvSpPr>
        <p:spPr>
          <a:xfrm>
            <a:off x="14615915" y="2362068"/>
            <a:ext cx="2624336" cy="5654642"/>
          </a:xfrm>
          <a:prstGeom prst="roundRect">
            <a:avLst>
              <a:gd name="adj" fmla="val 5081"/>
            </a:avLst>
          </a:prstGeom>
          <a:ln w="10583">
            <a:solidFill>
              <a:srgbClr val="0F172A">
                <a:alpha val="6000"/>
              </a:srgbClr>
            </a:solidFill>
            <a:prstDash val="solid"/>
          </a:ln>
          <a:effectLst>
            <a:outerShdw sx="100000" sy="100000" kx="0" ky="0" algn="bl" rotWithShape="0" blurRad="285750" dist="114300" dir="5400000">
              <a:srgbClr val="0D1424">
                <a:alpha val="12000"/>
              </a:srgbClr>
            </a:outerShdw>
          </a:effectLst>
        </p:spPr>
      </p:sp>
      <p:pic>
        <p:nvPicPr>
          <p:cNvPr id="20" name="Image 3" descr="preencoded.png">    </p:cNvPr>
          <p:cNvPicPr>
            <a:picLocks noChangeAspect="1"/>
          </p:cNvPicPr>
          <p:nvPr/>
        </p:nvPicPr>
        <p:blipFill>
          <a:blip r:embed="rId4"/>
          <a:stretch>
            <a:fillRect/>
          </a:stretch>
        </p:blipFill>
        <p:spPr>
          <a:xfrm>
            <a:off x="14615915" y="2362068"/>
            <a:ext cx="2624336" cy="5654642"/>
          </a:xfrm>
          <a:prstGeom prst="rect">
            <a:avLst/>
          </a:prstGeom>
        </p:spPr>
      </p:pic>
      <p:sp>
        <p:nvSpPr>
          <p:cNvPr id="21" name="Shape 15"/>
          <p:cNvSpPr/>
          <p:nvPr/>
        </p:nvSpPr>
        <p:spPr>
          <a:xfrm>
            <a:off x="6229284" y="8188028"/>
            <a:ext cx="2624171" cy="5654311"/>
          </a:xfrm>
          <a:prstGeom prst="roundRect">
            <a:avLst>
              <a:gd name="adj" fmla="val 5082"/>
            </a:avLst>
          </a:prstGeom>
          <a:ln w="10583">
            <a:solidFill>
              <a:srgbClr val="0F172A">
                <a:alpha val="6000"/>
              </a:srgbClr>
            </a:solidFill>
            <a:prstDash val="solid"/>
          </a:ln>
          <a:effectLst>
            <a:outerShdw sx="100000" sy="100000" kx="0" ky="0" algn="bl" rotWithShape="0" blurRad="285750" dist="114300" dir="5400000">
              <a:srgbClr val="0D1424">
                <a:alpha val="12000"/>
              </a:srgbClr>
            </a:outerShdw>
          </a:effectLst>
        </p:spPr>
      </p:sp>
      <p:pic>
        <p:nvPicPr>
          <p:cNvPr id="22" name="Image 4" descr="preencoded.png">    </p:cNvPr>
          <p:cNvPicPr>
            <a:picLocks noChangeAspect="1"/>
          </p:cNvPicPr>
          <p:nvPr/>
        </p:nvPicPr>
        <p:blipFill>
          <a:blip r:embed="rId5"/>
          <a:stretch>
            <a:fillRect/>
          </a:stretch>
        </p:blipFill>
        <p:spPr>
          <a:xfrm>
            <a:off x="6229284" y="8188028"/>
            <a:ext cx="2624171" cy="5654311"/>
          </a:xfrm>
          <a:prstGeom prst="rect">
            <a:avLst/>
          </a:prstGeom>
        </p:spPr>
      </p:pic>
      <p:sp>
        <p:nvSpPr>
          <p:cNvPr id="23" name="Shape 16"/>
          <p:cNvSpPr/>
          <p:nvPr/>
        </p:nvSpPr>
        <p:spPr>
          <a:xfrm>
            <a:off x="9024772" y="8188028"/>
            <a:ext cx="2624336" cy="5654642"/>
          </a:xfrm>
          <a:prstGeom prst="roundRect">
            <a:avLst>
              <a:gd name="adj" fmla="val 5081"/>
            </a:avLst>
          </a:prstGeom>
          <a:ln w="10583">
            <a:solidFill>
              <a:srgbClr val="0F172A">
                <a:alpha val="6000"/>
              </a:srgbClr>
            </a:solidFill>
            <a:prstDash val="solid"/>
          </a:ln>
          <a:effectLst>
            <a:outerShdw sx="100000" sy="100000" kx="0" ky="0" algn="bl" rotWithShape="0" blurRad="285750" dist="114300" dir="5400000">
              <a:srgbClr val="0D1424">
                <a:alpha val="12000"/>
              </a:srgbClr>
            </a:outerShdw>
          </a:effectLst>
        </p:spPr>
      </p:sp>
      <p:pic>
        <p:nvPicPr>
          <p:cNvPr id="24" name="Image 5" descr="preencoded.png">    </p:cNvPr>
          <p:cNvPicPr>
            <a:picLocks noChangeAspect="1"/>
          </p:cNvPicPr>
          <p:nvPr/>
        </p:nvPicPr>
        <p:blipFill>
          <a:blip r:embed="rId6"/>
          <a:stretch>
            <a:fillRect/>
          </a:stretch>
        </p:blipFill>
        <p:spPr>
          <a:xfrm>
            <a:off x="9024772" y="8188028"/>
            <a:ext cx="2624336" cy="5654642"/>
          </a:xfrm>
          <a:prstGeom prst="rect">
            <a:avLst/>
          </a:prstGeom>
        </p:spPr>
      </p:pic>
      <p:sp>
        <p:nvSpPr>
          <p:cNvPr id="25" name="Shape 17"/>
          <p:cNvSpPr/>
          <p:nvPr/>
        </p:nvSpPr>
        <p:spPr>
          <a:xfrm>
            <a:off x="11820426" y="8188028"/>
            <a:ext cx="2624171" cy="5654311"/>
          </a:xfrm>
          <a:prstGeom prst="roundRect">
            <a:avLst>
              <a:gd name="adj" fmla="val 5082"/>
            </a:avLst>
          </a:prstGeom>
          <a:ln w="10583">
            <a:solidFill>
              <a:srgbClr val="0F172A">
                <a:alpha val="6000"/>
              </a:srgbClr>
            </a:solidFill>
            <a:prstDash val="solid"/>
          </a:ln>
          <a:effectLst>
            <a:outerShdw sx="100000" sy="100000" kx="0" ky="0" algn="bl" rotWithShape="0" blurRad="285750" dist="114300" dir="5400000">
              <a:srgbClr val="0D1424">
                <a:alpha val="12000"/>
              </a:srgbClr>
            </a:outerShdw>
          </a:effectLst>
        </p:spPr>
      </p:sp>
      <p:pic>
        <p:nvPicPr>
          <p:cNvPr id="26" name="Image 6" descr="preencoded.png">    </p:cNvPr>
          <p:cNvPicPr>
            <a:picLocks noChangeAspect="1"/>
          </p:cNvPicPr>
          <p:nvPr/>
        </p:nvPicPr>
        <p:blipFill>
          <a:blip r:embed="rId7"/>
          <a:stretch>
            <a:fillRect/>
          </a:stretch>
        </p:blipFill>
        <p:spPr>
          <a:xfrm>
            <a:off x="11820426" y="8188028"/>
            <a:ext cx="2624171" cy="5654311"/>
          </a:xfrm>
          <a:prstGeom prst="rect">
            <a:avLst/>
          </a:prstGeom>
        </p:spPr>
      </p:pic>
      <p:sp>
        <p:nvSpPr>
          <p:cNvPr id="27" name="Shape 18"/>
          <p:cNvSpPr/>
          <p:nvPr/>
        </p:nvSpPr>
        <p:spPr>
          <a:xfrm>
            <a:off x="14615915" y="8188028"/>
            <a:ext cx="2624336" cy="5654642"/>
          </a:xfrm>
          <a:prstGeom prst="roundRect">
            <a:avLst>
              <a:gd name="adj" fmla="val 5081"/>
            </a:avLst>
          </a:prstGeom>
          <a:ln w="10583">
            <a:solidFill>
              <a:srgbClr val="0F172A">
                <a:alpha val="6000"/>
              </a:srgbClr>
            </a:solidFill>
            <a:prstDash val="solid"/>
          </a:ln>
          <a:effectLst>
            <a:outerShdw sx="100000" sy="100000" kx="0" ky="0" algn="bl" rotWithShape="0" blurRad="285750" dist="114300" dir="5400000">
              <a:srgbClr val="0D1424">
                <a:alpha val="12000"/>
              </a:srgbClr>
            </a:outerShdw>
          </a:effectLst>
        </p:spPr>
      </p:sp>
      <p:pic>
        <p:nvPicPr>
          <p:cNvPr id="28" name="Image 7" descr="preencoded.png">    </p:cNvPr>
          <p:cNvPicPr>
            <a:picLocks noChangeAspect="1"/>
          </p:cNvPicPr>
          <p:nvPr/>
        </p:nvPicPr>
        <p:blipFill>
          <a:blip r:embed="rId8"/>
          <a:stretch>
            <a:fillRect/>
          </a:stretch>
        </p:blipFill>
        <p:spPr>
          <a:xfrm>
            <a:off x="14615915" y="8188028"/>
            <a:ext cx="2624336" cy="56546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424"/>
        </a:solidFill>
      </p:bgPr>
    </p:bg>
    <p:spTree>
      <p:nvGrpSpPr>
        <p:cNvPr id="1" name=""/>
        <p:cNvGrpSpPr/>
        <p:nvPr/>
      </p:nvGrpSpPr>
      <p:grpSpPr>
        <a:xfrm>
          <a:off x="0" y="0"/>
          <a:ext cx="0" cy="0"/>
          <a:chOff x="0" y="0"/>
          <a:chExt cx="0" cy="0"/>
        </a:xfrm>
      </p:grpSpPr>
      <p:sp>
        <p:nvSpPr>
          <p:cNvPr id="2" name="Text 0"/>
          <p:cNvSpPr/>
          <p:nvPr/>
        </p:nvSpPr>
        <p:spPr>
          <a:xfrm>
            <a:off x="1047750" y="857250"/>
            <a:ext cx="17811751" cy="2921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F59B1E"/>
                </a:solidFill>
                <a:latin typeface="Archivo" pitchFamily="34" charset="0"/>
                <a:ea typeface="Archivo" pitchFamily="34" charset="-122"/>
                <a:cs typeface="Archivo" pitchFamily="34" charset="-120"/>
              </a:rPr>
              <a:t>EXECUTIVE SUMMARY</a:t>
            </a:r>
            <a:endParaRPr lang="en-US" sz="1800" dirty="0"/>
          </a:p>
        </p:txBody>
      </p:sp>
      <p:sp>
        <p:nvSpPr>
          <p:cNvPr id="3" name="Text 1"/>
          <p:cNvSpPr/>
          <p:nvPr/>
        </p:nvSpPr>
        <p:spPr>
          <a:xfrm>
            <a:off x="1047750" y="1301750"/>
            <a:ext cx="17811751" cy="679384"/>
          </a:xfrm>
          <a:prstGeom prst="rect">
            <a:avLst/>
          </a:prstGeom>
          <a:noFill/>
          <a:ln/>
        </p:spPr>
        <p:txBody>
          <a:bodyPr wrap="square" lIns="25400" tIns="25400" rIns="25400" bIns="25400" rtlCol="0" anchor="t">
            <a:normAutofit/>
          </a:bodyPr>
          <a:lstStyle/>
          <a:p>
            <a:pPr algn="l" indent="0" marL="0">
              <a:lnSpc>
                <a:spcPct val="94669"/>
              </a:lnSpc>
              <a:buNone/>
            </a:pPr>
            <a:r>
              <a:rPr lang="en-US" sz="4950" b="1" spc="-99" kern="0" dirty="0">
                <a:solidFill>
                  <a:srgbClr val="EAEEF6"/>
                </a:solidFill>
                <a:latin typeface="Archivo" pitchFamily="34" charset="0"/>
                <a:ea typeface="Archivo" pitchFamily="34" charset="-122"/>
                <a:cs typeface="Archivo" pitchFamily="34" charset="-120"/>
              </a:rPr>
              <a:t>Three things to know</a:t>
            </a:r>
            <a:endParaRPr lang="en-US" sz="4950" dirty="0"/>
          </a:p>
        </p:txBody>
      </p:sp>
      <p:sp>
        <p:nvSpPr>
          <p:cNvPr id="4" name="Shape 2"/>
          <p:cNvSpPr/>
          <p:nvPr/>
        </p:nvSpPr>
        <p:spPr>
          <a:xfrm>
            <a:off x="1047750" y="2476335"/>
            <a:ext cx="5168966" cy="7010632"/>
          </a:xfrm>
          <a:prstGeom prst="roundRect">
            <a:avLst>
              <a:gd name="adj" fmla="val 4054"/>
            </a:avLst>
          </a:prstGeom>
          <a:solidFill>
            <a:srgbClr val="17223B"/>
          </a:solidFill>
          <a:ln/>
        </p:spPr>
      </p:sp>
      <p:sp>
        <p:nvSpPr>
          <p:cNvPr id="5" name="Text 3"/>
          <p:cNvSpPr/>
          <p:nvPr/>
        </p:nvSpPr>
        <p:spPr>
          <a:xfrm>
            <a:off x="1428750" y="2895369"/>
            <a:ext cx="4847663" cy="590583"/>
          </a:xfrm>
          <a:prstGeom prst="rect">
            <a:avLst/>
          </a:prstGeom>
          <a:noFill/>
          <a:ln/>
        </p:spPr>
        <p:txBody>
          <a:bodyPr wrap="square" lIns="25400" tIns="25400" rIns="25400" bIns="25400" rtlCol="0" anchor="t">
            <a:normAutofit/>
          </a:bodyPr>
          <a:lstStyle/>
          <a:p>
            <a:pPr algn="l" indent="0" marL="0">
              <a:lnSpc>
                <a:spcPct val="91579"/>
              </a:lnSpc>
              <a:buNone/>
            </a:pPr>
            <a:r>
              <a:rPr lang="en-US" sz="4350" b="1" dirty="0">
                <a:solidFill>
                  <a:srgbClr val="FBB040"/>
                </a:solidFill>
                <a:latin typeface="Archivo" pitchFamily="34" charset="0"/>
                <a:ea typeface="Archivo" pitchFamily="34" charset="-122"/>
                <a:cs typeface="Archivo" pitchFamily="34" charset="-120"/>
              </a:rPr>
              <a:t>01</a:t>
            </a:r>
            <a:endParaRPr lang="en-US" sz="4350" dirty="0"/>
          </a:p>
        </p:txBody>
      </p:sp>
      <p:sp>
        <p:nvSpPr>
          <p:cNvPr id="6" name="Text 4"/>
          <p:cNvSpPr/>
          <p:nvPr/>
        </p:nvSpPr>
        <p:spPr>
          <a:xfrm>
            <a:off x="1428750" y="3695403"/>
            <a:ext cx="4847663" cy="387350"/>
          </a:xfrm>
          <a:prstGeom prst="rect">
            <a:avLst/>
          </a:prstGeom>
          <a:noFill/>
          <a:ln/>
        </p:spPr>
        <p:txBody>
          <a:bodyPr wrap="square" lIns="25400" tIns="25400" rIns="25400" bIns="25400" rtlCol="0" anchor="t">
            <a:normAutofit/>
          </a:bodyPr>
          <a:lstStyle/>
          <a:p>
            <a:pPr algn="l" indent="0" marL="0">
              <a:buNone/>
            </a:pPr>
            <a:r>
              <a:rPr lang="en-US" sz="2550" b="1" dirty="0">
                <a:solidFill>
                  <a:srgbClr val="EAEEF6"/>
                </a:solidFill>
                <a:latin typeface="Archivo" pitchFamily="34" charset="0"/>
                <a:ea typeface="Archivo" pitchFamily="34" charset="-122"/>
                <a:cs typeface="Archivo" pitchFamily="34" charset="-120"/>
              </a:rPr>
              <a:t>The bones are solid</a:t>
            </a:r>
            <a:endParaRPr lang="en-US" sz="2550" dirty="0"/>
          </a:p>
        </p:txBody>
      </p:sp>
      <p:sp>
        <p:nvSpPr>
          <p:cNvPr id="7" name="Text 5"/>
          <p:cNvSpPr/>
          <p:nvPr/>
        </p:nvSpPr>
        <p:spPr>
          <a:xfrm>
            <a:off x="1428750" y="4196953"/>
            <a:ext cx="4539175" cy="1580621"/>
          </a:xfrm>
          <a:prstGeom prst="rect">
            <a:avLst/>
          </a:prstGeom>
          <a:noFill/>
          <a:ln/>
        </p:spPr>
        <p:txBody>
          <a:bodyPr wrap="square" lIns="25400" tIns="25400" rIns="25400" bIns="25400" rtlCol="0" anchor="t">
            <a:normAutofit/>
          </a:bodyPr>
          <a:lstStyle/>
          <a:p>
            <a:pPr algn="l" indent="0" marL="0">
              <a:lnSpc>
                <a:spcPct val="125690"/>
              </a:lnSpc>
              <a:buNone/>
            </a:pPr>
            <a:r>
              <a:rPr lang="en-US" sz="2025" dirty="0">
                <a:solidFill>
                  <a:srgbClr val="9AA6BC"/>
                </a:solidFill>
                <a:latin typeface="Figtree" pitchFamily="34" charset="0"/>
                <a:ea typeface="Figtree" pitchFamily="34" charset="-122"/>
                <a:cs typeface="Figtree" pitchFamily="34" charset="-120"/>
              </a:rPr>
              <a:t>A clear four-step flow, sensible defaults, and honest empty states. The structure is right — this is a polish and emphasis problem, not a rebuild.</a:t>
            </a:r>
            <a:endParaRPr lang="en-US" sz="2025" dirty="0"/>
          </a:p>
        </p:txBody>
      </p:sp>
      <p:sp>
        <p:nvSpPr>
          <p:cNvPr id="8" name="Shape 6"/>
          <p:cNvSpPr/>
          <p:nvPr/>
        </p:nvSpPr>
        <p:spPr>
          <a:xfrm>
            <a:off x="6559517" y="2476335"/>
            <a:ext cx="5168966" cy="7010632"/>
          </a:xfrm>
          <a:prstGeom prst="roundRect">
            <a:avLst>
              <a:gd name="adj" fmla="val 4054"/>
            </a:avLst>
          </a:prstGeom>
          <a:solidFill>
            <a:srgbClr val="17223B"/>
          </a:solidFill>
          <a:ln/>
        </p:spPr>
      </p:sp>
      <p:sp>
        <p:nvSpPr>
          <p:cNvPr id="9" name="Text 7"/>
          <p:cNvSpPr/>
          <p:nvPr/>
        </p:nvSpPr>
        <p:spPr>
          <a:xfrm>
            <a:off x="6940517" y="2895369"/>
            <a:ext cx="4847663" cy="590583"/>
          </a:xfrm>
          <a:prstGeom prst="rect">
            <a:avLst/>
          </a:prstGeom>
          <a:noFill/>
          <a:ln/>
        </p:spPr>
        <p:txBody>
          <a:bodyPr wrap="square" lIns="25400" tIns="25400" rIns="25400" bIns="25400" rtlCol="0" anchor="t">
            <a:normAutofit/>
          </a:bodyPr>
          <a:lstStyle/>
          <a:p>
            <a:pPr algn="l" indent="0" marL="0">
              <a:lnSpc>
                <a:spcPct val="91579"/>
              </a:lnSpc>
              <a:buNone/>
            </a:pPr>
            <a:r>
              <a:rPr lang="en-US" sz="4350" b="1" dirty="0">
                <a:solidFill>
                  <a:srgbClr val="FBB040"/>
                </a:solidFill>
                <a:latin typeface="Archivo" pitchFamily="34" charset="0"/>
                <a:ea typeface="Archivo" pitchFamily="34" charset="-122"/>
                <a:cs typeface="Archivo" pitchFamily="34" charset="-120"/>
              </a:rPr>
              <a:t>02</a:t>
            </a:r>
            <a:endParaRPr lang="en-US" sz="4350" dirty="0"/>
          </a:p>
        </p:txBody>
      </p:sp>
      <p:sp>
        <p:nvSpPr>
          <p:cNvPr id="10" name="Text 8"/>
          <p:cNvSpPr/>
          <p:nvPr/>
        </p:nvSpPr>
        <p:spPr>
          <a:xfrm>
            <a:off x="6940517" y="3695403"/>
            <a:ext cx="4847663" cy="387350"/>
          </a:xfrm>
          <a:prstGeom prst="rect">
            <a:avLst/>
          </a:prstGeom>
          <a:noFill/>
          <a:ln/>
        </p:spPr>
        <p:txBody>
          <a:bodyPr wrap="square" lIns="25400" tIns="25400" rIns="25400" bIns="25400" rtlCol="0" anchor="t">
            <a:normAutofit/>
          </a:bodyPr>
          <a:lstStyle/>
          <a:p>
            <a:pPr algn="l" indent="0" marL="0">
              <a:buNone/>
            </a:pPr>
            <a:r>
              <a:rPr lang="en-US" sz="2550" b="1" dirty="0">
                <a:solidFill>
                  <a:srgbClr val="EAEEF6"/>
                </a:solidFill>
                <a:latin typeface="Archivo" pitchFamily="34" charset="0"/>
                <a:ea typeface="Archivo" pitchFamily="34" charset="-122"/>
                <a:cs typeface="Archivo" pitchFamily="34" charset="-120"/>
              </a:rPr>
              <a:t>Small bugs leak trust</a:t>
            </a:r>
            <a:endParaRPr lang="en-US" sz="2550" dirty="0"/>
          </a:p>
        </p:txBody>
      </p:sp>
      <p:sp>
        <p:nvSpPr>
          <p:cNvPr id="11" name="Text 9"/>
          <p:cNvSpPr/>
          <p:nvPr/>
        </p:nvSpPr>
        <p:spPr>
          <a:xfrm>
            <a:off x="6940517" y="4196953"/>
            <a:ext cx="4539175" cy="1966251"/>
          </a:xfrm>
          <a:prstGeom prst="rect">
            <a:avLst/>
          </a:prstGeom>
          <a:noFill/>
          <a:ln/>
        </p:spPr>
        <p:txBody>
          <a:bodyPr wrap="square" lIns="25400" tIns="25400" rIns="25400" bIns="25400" rtlCol="0" anchor="t">
            <a:normAutofit/>
          </a:bodyPr>
          <a:lstStyle/>
          <a:p>
            <a:pPr algn="l" indent="0" marL="0">
              <a:lnSpc>
                <a:spcPct val="125690"/>
              </a:lnSpc>
              <a:buNone/>
            </a:pPr>
            <a:r>
              <a:rPr lang="en-US" sz="2025" dirty="0">
                <a:solidFill>
                  <a:srgbClr val="9AA6BC"/>
                </a:solidFill>
                <a:latin typeface="Figtree" pitchFamily="34" charset="0"/>
                <a:ea typeface="Figtree" pitchFamily="34" charset="-122"/>
                <a:cs typeface="Figtree" pitchFamily="34" charset="-120"/>
              </a:rPr>
              <a:t>Invisible nav icons, two accent colours fighting, and emoji standing in for an icon set all read as "unfinished" to a first-time user deciding whether to trust you.</a:t>
            </a:r>
            <a:endParaRPr lang="en-US" sz="2025" dirty="0"/>
          </a:p>
        </p:txBody>
      </p:sp>
      <p:sp>
        <p:nvSpPr>
          <p:cNvPr id="12" name="Shape 10"/>
          <p:cNvSpPr/>
          <p:nvPr/>
        </p:nvSpPr>
        <p:spPr>
          <a:xfrm>
            <a:off x="12071284" y="2476335"/>
            <a:ext cx="5168966" cy="7010632"/>
          </a:xfrm>
          <a:prstGeom prst="roundRect">
            <a:avLst>
              <a:gd name="adj" fmla="val 4054"/>
            </a:avLst>
          </a:prstGeom>
          <a:solidFill>
            <a:srgbClr val="17223B"/>
          </a:solidFill>
          <a:ln/>
        </p:spPr>
      </p:sp>
      <p:sp>
        <p:nvSpPr>
          <p:cNvPr id="13" name="Text 11"/>
          <p:cNvSpPr/>
          <p:nvPr/>
        </p:nvSpPr>
        <p:spPr>
          <a:xfrm>
            <a:off x="12452284" y="2895369"/>
            <a:ext cx="4847663" cy="590583"/>
          </a:xfrm>
          <a:prstGeom prst="rect">
            <a:avLst/>
          </a:prstGeom>
          <a:noFill/>
          <a:ln/>
        </p:spPr>
        <p:txBody>
          <a:bodyPr wrap="square" lIns="25400" tIns="25400" rIns="25400" bIns="25400" rtlCol="0" anchor="t">
            <a:normAutofit/>
          </a:bodyPr>
          <a:lstStyle/>
          <a:p>
            <a:pPr algn="l" indent="0" marL="0">
              <a:lnSpc>
                <a:spcPct val="91579"/>
              </a:lnSpc>
              <a:buNone/>
            </a:pPr>
            <a:r>
              <a:rPr lang="en-US" sz="4350" b="1" dirty="0">
                <a:solidFill>
                  <a:srgbClr val="FBB040"/>
                </a:solidFill>
                <a:latin typeface="Archivo" pitchFamily="34" charset="0"/>
                <a:ea typeface="Archivo" pitchFamily="34" charset="-122"/>
                <a:cs typeface="Archivo" pitchFamily="34" charset="-120"/>
              </a:rPr>
              <a:t>03</a:t>
            </a:r>
            <a:endParaRPr lang="en-US" sz="4350" dirty="0"/>
          </a:p>
        </p:txBody>
      </p:sp>
      <p:sp>
        <p:nvSpPr>
          <p:cNvPr id="14" name="Text 12"/>
          <p:cNvSpPr/>
          <p:nvPr/>
        </p:nvSpPr>
        <p:spPr>
          <a:xfrm>
            <a:off x="12452284" y="3695403"/>
            <a:ext cx="4539175" cy="736600"/>
          </a:xfrm>
          <a:prstGeom prst="rect">
            <a:avLst/>
          </a:prstGeom>
          <a:noFill/>
          <a:ln/>
        </p:spPr>
        <p:txBody>
          <a:bodyPr wrap="square" lIns="25400" tIns="25400" rIns="25400" bIns="25400" rtlCol="0" anchor="t">
            <a:normAutofit/>
          </a:bodyPr>
          <a:lstStyle/>
          <a:p>
            <a:pPr algn="l" indent="0" marL="0">
              <a:buNone/>
            </a:pPr>
            <a:r>
              <a:rPr lang="en-US" sz="2550" b="1" dirty="0">
                <a:solidFill>
                  <a:srgbClr val="EAEEF6"/>
                </a:solidFill>
                <a:latin typeface="Archivo" pitchFamily="34" charset="0"/>
                <a:ea typeface="Archivo" pitchFamily="34" charset="-122"/>
                <a:cs typeface="Archivo" pitchFamily="34" charset="-120"/>
              </a:rPr>
              <a:t>The promise isn't in the flow</a:t>
            </a:r>
            <a:endParaRPr lang="en-US" sz="2550" dirty="0"/>
          </a:p>
        </p:txBody>
      </p:sp>
      <p:sp>
        <p:nvSpPr>
          <p:cNvPr id="15" name="Text 13"/>
          <p:cNvSpPr/>
          <p:nvPr/>
        </p:nvSpPr>
        <p:spPr>
          <a:xfrm>
            <a:off x="12452284" y="4546203"/>
            <a:ext cx="4539175" cy="1580621"/>
          </a:xfrm>
          <a:prstGeom prst="rect">
            <a:avLst/>
          </a:prstGeom>
          <a:noFill/>
          <a:ln/>
        </p:spPr>
        <p:txBody>
          <a:bodyPr wrap="square" lIns="25400" tIns="25400" rIns="25400" bIns="25400" rtlCol="0" anchor="t">
            <a:normAutofit/>
          </a:bodyPr>
          <a:lstStyle/>
          <a:p>
            <a:pPr algn="l" indent="0" marL="0">
              <a:lnSpc>
                <a:spcPct val="125690"/>
              </a:lnSpc>
              <a:buNone/>
            </a:pPr>
            <a:r>
              <a:rPr lang="en-US" sz="2025" dirty="0">
                <a:solidFill>
                  <a:srgbClr val="9AA6BC"/>
                </a:solidFill>
                <a:latin typeface="Figtree" pitchFamily="34" charset="0"/>
                <a:ea typeface="Figtree" pitchFamily="34" charset="-122"/>
                <a:cs typeface="Figtree" pitchFamily="34" charset="-120"/>
              </a:rPr>
              <a:t>"Minutes, priced upfront, verified" is the whole pitch — but ETA, price and trust never appear on the screens where users decide to book.</a:t>
            </a:r>
            <a:endParaRPr lang="en-US" sz="20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B040"/>
        </a:solidFill>
      </p:bgPr>
    </p:bg>
    <p:spTree>
      <p:nvGrpSpPr>
        <p:cNvPr id="1" name=""/>
        <p:cNvGrpSpPr/>
        <p:nvPr/>
      </p:nvGrpSpPr>
      <p:grpSpPr>
        <a:xfrm>
          <a:off x="0" y="0"/>
          <a:ext cx="0" cy="0"/>
          <a:chOff x="0" y="0"/>
          <a:chExt cx="0" cy="0"/>
        </a:xfrm>
      </p:grpSpPr>
      <p:sp>
        <p:nvSpPr>
          <p:cNvPr id="2" name="Text 0"/>
          <p:cNvSpPr/>
          <p:nvPr/>
        </p:nvSpPr>
        <p:spPr>
          <a:xfrm>
            <a:off x="1047750" y="3664479"/>
            <a:ext cx="17811751" cy="323850"/>
          </a:xfrm>
          <a:prstGeom prst="rect">
            <a:avLst/>
          </a:prstGeom>
          <a:noFill/>
          <a:ln/>
        </p:spPr>
        <p:txBody>
          <a:bodyPr wrap="square" lIns="25400" tIns="25400" rIns="25400" bIns="25400" rtlCol="0" anchor="t">
            <a:normAutofit/>
          </a:bodyPr>
          <a:lstStyle/>
          <a:p>
            <a:pPr algn="l" indent="0" marL="0">
              <a:buNone/>
            </a:pPr>
            <a:r>
              <a:rPr lang="en-US" sz="2100" b="1" spc="294" kern="0" dirty="0">
                <a:solidFill>
                  <a:srgbClr val="0D1424"/>
                </a:solidFill>
                <a:latin typeface="Archivo" pitchFamily="34" charset="0"/>
                <a:ea typeface="Archivo" pitchFamily="34" charset="-122"/>
                <a:cs typeface="Archivo" pitchFamily="34" charset="-120"/>
              </a:rPr>
              <a:t>PART ONE</a:t>
            </a:r>
            <a:endParaRPr lang="en-US" sz="2100" dirty="0"/>
          </a:p>
        </p:txBody>
      </p:sp>
      <p:sp>
        <p:nvSpPr>
          <p:cNvPr id="3" name="Text 1"/>
          <p:cNvSpPr/>
          <p:nvPr/>
        </p:nvSpPr>
        <p:spPr>
          <a:xfrm>
            <a:off x="1047750" y="4178763"/>
            <a:ext cx="17811751" cy="1251545"/>
          </a:xfrm>
          <a:prstGeom prst="rect">
            <a:avLst/>
          </a:prstGeom>
          <a:noFill/>
          <a:ln/>
        </p:spPr>
        <p:txBody>
          <a:bodyPr wrap="square" lIns="25400" tIns="25400" rIns="25400" bIns="25400" rtlCol="0" anchor="t">
            <a:normAutofit/>
          </a:bodyPr>
          <a:lstStyle/>
          <a:p>
            <a:pPr algn="l" indent="0" marL="0">
              <a:lnSpc>
                <a:spcPct val="89578"/>
              </a:lnSpc>
              <a:buNone/>
            </a:pPr>
            <a:r>
              <a:rPr lang="en-US" sz="9750" b="1" spc="-292" kern="0" dirty="0">
                <a:solidFill>
                  <a:srgbClr val="0D1424"/>
                </a:solidFill>
                <a:latin typeface="Archivo" pitchFamily="34" charset="0"/>
                <a:ea typeface="Archivo" pitchFamily="34" charset="-122"/>
                <a:cs typeface="Archivo" pitchFamily="34" charset="-120"/>
              </a:rPr>
              <a:t>Visual &amp; UI</a:t>
            </a:r>
            <a:endParaRPr lang="en-US" sz="9750" dirty="0"/>
          </a:p>
        </p:txBody>
      </p:sp>
      <p:sp>
        <p:nvSpPr>
          <p:cNvPr id="4" name="Text 2"/>
          <p:cNvSpPr/>
          <p:nvPr/>
        </p:nvSpPr>
        <p:spPr>
          <a:xfrm>
            <a:off x="1047750" y="5715992"/>
            <a:ext cx="8829676" cy="944629"/>
          </a:xfrm>
          <a:prstGeom prst="rect">
            <a:avLst/>
          </a:prstGeom>
          <a:noFill/>
          <a:ln/>
        </p:spPr>
        <p:txBody>
          <a:bodyPr wrap="square" lIns="25400" tIns="25400" rIns="25400" bIns="25400" rtlCol="0" anchor="t">
            <a:normAutofit/>
          </a:bodyPr>
          <a:lstStyle/>
          <a:p>
            <a:pPr algn="l" indent="0" marL="0">
              <a:lnSpc>
                <a:spcPct val="115784"/>
              </a:lnSpc>
              <a:buNone/>
            </a:pPr>
            <a:r>
              <a:rPr lang="en-US" sz="2550" dirty="0">
                <a:solidFill>
                  <a:srgbClr val="0D1424"/>
                </a:solidFill>
                <a:latin typeface="Figtree" pitchFamily="34" charset="0"/>
                <a:ea typeface="Figtree" pitchFamily="34" charset="-122"/>
                <a:cs typeface="Figtree" pitchFamily="34" charset="-120"/>
              </a:rPr>
              <a:t>Four fixes that make the app look as trustworthy as the service behind it.</a:t>
            </a:r>
            <a:endParaRPr lang="en-US" sz="2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1190625" y="1792717"/>
            <a:ext cx="3143250" cy="6777633"/>
          </a:xfrm>
          <a:prstGeom prst="roundRect">
            <a:avLst>
              <a:gd name="adj" fmla="val 9091"/>
            </a:avLst>
          </a:prstGeom>
          <a:ln w="10583">
            <a:solidFill>
              <a:srgbClr val="0F172A">
                <a:alpha val="8000"/>
              </a:srgbClr>
            </a:solidFill>
            <a:prstDash val="solid"/>
          </a:ln>
          <a:effectLst>
            <a:outerShdw sx="100000" sy="100000" kx="0" ky="0" algn="bl" rotWithShape="0" blurRad="666750" dist="285750" dir="5400000">
              <a:srgbClr val="0D1424">
                <a:alpha val="28000"/>
              </a:srgbClr>
            </a:outerShdw>
          </a:effectLst>
        </p:spPr>
      </p:sp>
      <p:pic>
        <p:nvPicPr>
          <p:cNvPr id="3" name="Image 0" descr="preencoded.png">    </p:cNvPr>
          <p:cNvPicPr>
            <a:picLocks noChangeAspect="1"/>
          </p:cNvPicPr>
          <p:nvPr/>
        </p:nvPicPr>
        <p:blipFill>
          <a:blip r:embed="rId1"/>
          <a:stretch>
            <a:fillRect/>
          </a:stretch>
        </p:blipFill>
        <p:spPr>
          <a:xfrm>
            <a:off x="1190625" y="1792717"/>
            <a:ext cx="3143250" cy="6777633"/>
          </a:xfrm>
          <a:prstGeom prst="rect">
            <a:avLst/>
          </a:prstGeom>
        </p:spPr>
      </p:pic>
      <p:sp>
        <p:nvSpPr>
          <p:cNvPr id="4" name="Shape 1"/>
          <p:cNvSpPr/>
          <p:nvPr/>
        </p:nvSpPr>
        <p:spPr>
          <a:xfrm>
            <a:off x="5143500" y="2141637"/>
            <a:ext cx="2851382" cy="427302"/>
          </a:xfrm>
          <a:prstGeom prst="roundRect">
            <a:avLst>
              <a:gd name="adj" fmla="val 50000"/>
            </a:avLst>
          </a:prstGeom>
          <a:solidFill>
            <a:srgbClr val="E5484D"/>
          </a:solidFill>
          <a:ln/>
        </p:spPr>
      </p:sp>
      <p:sp>
        <p:nvSpPr>
          <p:cNvPr id="5" name="Text 2"/>
          <p:cNvSpPr/>
          <p:nvPr/>
        </p:nvSpPr>
        <p:spPr>
          <a:xfrm>
            <a:off x="5314950" y="2217837"/>
            <a:ext cx="2594023" cy="313002"/>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Figtree" pitchFamily="34" charset="0"/>
                <a:ea typeface="Figtree" pitchFamily="34" charset="-122"/>
                <a:cs typeface="Figtree" pitchFamily="34" charset="-120"/>
              </a:rPr>
              <a:t>High impact · Quick win</a:t>
            </a:r>
            <a:endParaRPr lang="en-US" sz="1800" dirty="0"/>
          </a:p>
        </p:txBody>
      </p:sp>
      <p:sp>
        <p:nvSpPr>
          <p:cNvPr id="6" name="Text 3"/>
          <p:cNvSpPr/>
          <p:nvPr/>
        </p:nvSpPr>
        <p:spPr>
          <a:xfrm>
            <a:off x="5143500" y="2759439"/>
            <a:ext cx="13306425" cy="646311"/>
          </a:xfrm>
          <a:prstGeom prst="rect">
            <a:avLst/>
          </a:prstGeom>
          <a:noFill/>
          <a:ln/>
        </p:spPr>
        <p:txBody>
          <a:bodyPr wrap="square" lIns="25400" tIns="25400" rIns="25400" bIns="25400" rtlCol="0" anchor="t">
            <a:normAutofit/>
          </a:bodyPr>
          <a:lstStyle/>
          <a:p>
            <a:pPr algn="l" indent="0" marL="0">
              <a:lnSpc>
                <a:spcPct val="94220"/>
              </a:lnSpc>
              <a:buNone/>
            </a:pPr>
            <a:r>
              <a:rPr lang="en-US" sz="4650" b="1" spc="-93" kern="0" dirty="0">
                <a:solidFill>
                  <a:srgbClr val="0F172A"/>
                </a:solidFill>
                <a:latin typeface="Archivo" pitchFamily="34" charset="0"/>
                <a:ea typeface="Archivo" pitchFamily="34" charset="-122"/>
                <a:cs typeface="Archivo" pitchFamily="34" charset="-120"/>
              </a:rPr>
              <a:t>The bottom nav is invisible</a:t>
            </a:r>
            <a:endParaRPr lang="en-US" sz="4650" dirty="0"/>
          </a:p>
        </p:txBody>
      </p:sp>
      <p:sp>
        <p:nvSpPr>
          <p:cNvPr id="7" name="Text 4"/>
          <p:cNvSpPr/>
          <p:nvPr/>
        </p:nvSpPr>
        <p:spPr>
          <a:xfrm>
            <a:off x="5143500" y="3615201"/>
            <a:ext cx="8044816" cy="1810147"/>
          </a:xfrm>
          <a:prstGeom prst="rect">
            <a:avLst/>
          </a:prstGeom>
          <a:noFill/>
          <a:ln/>
        </p:spPr>
        <p:txBody>
          <a:bodyPr wrap="square" lIns="25400" tIns="25400" rIns="25400" bIns="25400" rtlCol="0" anchor="t">
            <a:normAutofit/>
          </a:bodyPr>
          <a:lstStyle/>
          <a:p>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The tab bar renders as blank squares — no glyphs, no labels — on both home and account. Even the active (amber) tab has nothing in it. A user can't tell where they are or how to get back.</a:t>
            </a:r>
            <a:endParaRPr lang="en-US" sz="2325" dirty="0"/>
          </a:p>
        </p:txBody>
      </p:sp>
      <p:sp>
        <p:nvSpPr>
          <p:cNvPr id="8" name="Text 5"/>
          <p:cNvSpPr/>
          <p:nvPr/>
        </p:nvSpPr>
        <p:spPr>
          <a:xfrm>
            <a:off x="5143500" y="5672998"/>
            <a:ext cx="13306425" cy="313267"/>
          </a:xfrm>
          <a:prstGeom prst="rect">
            <a:avLst/>
          </a:prstGeom>
          <a:noFill/>
          <a:ln/>
        </p:spPr>
        <p:txBody>
          <a:bodyPr wrap="square" lIns="25400" tIns="25400" rIns="25400" bIns="25400" rtlCol="0" anchor="t">
            <a:normAutofit/>
          </a:bodyPr>
          <a:lstStyle/>
          <a:p>
            <a:pPr algn="l" indent="0" marL="0">
              <a:buNone/>
            </a:pPr>
            <a:r>
              <a:rPr lang="en-US" sz="1950" b="1" dirty="0">
                <a:solidFill>
                  <a:srgbClr val="0F172A"/>
                </a:solidFill>
                <a:latin typeface="Archivo" pitchFamily="34" charset="0"/>
                <a:ea typeface="Archivo" pitchFamily="34" charset="-122"/>
                <a:cs typeface="Archivo" pitchFamily="34" charset="-120"/>
              </a:rPr>
              <a:t>Do this</a:t>
            </a:r>
            <a:endParaRPr lang="en-US" sz="1950" dirty="0"/>
          </a:p>
        </p:txBody>
      </p:sp>
      <p:sp>
        <p:nvSpPr>
          <p:cNvPr id="9" name="Text 6"/>
          <p:cNvSpPr/>
          <p:nvPr/>
        </p:nvSpPr>
        <p:spPr>
          <a:xfrm>
            <a:off x="5197694" y="6081448"/>
            <a:ext cx="8512602" cy="466064"/>
          </a:xfrm>
          <a:prstGeom prst="rect">
            <a:avLst/>
          </a:prstGeom>
          <a:noFill/>
          <a:ln/>
        </p:spPr>
        <p:txBody>
          <a:bodyPr wrap="square" lIns="25400" tIns="25400" rIns="25400" bIns="25400" rtlCol="0" anchor="t">
            <a:normAutofit/>
          </a:bodyPr>
          <a:lstStyle/>
          <a:p>
            <a:pPr algn="l" marL="193358" indent="-193358">
              <a:lnSpc>
                <a:spcPct val="126422"/>
              </a:lnSpc>
              <a:buSzPct val="100000"/>
              <a:buChar char="•"/>
            </a:pPr>
            <a:r>
              <a:rPr lang="en-US" sz="2175" dirty="0">
                <a:solidFill>
                  <a:srgbClr val="43506B"/>
                </a:solidFill>
                <a:latin typeface="Figtree" pitchFamily="34" charset="0"/>
                <a:ea typeface="Figtree" pitchFamily="34" charset="-122"/>
                <a:cs typeface="Figtree" pitchFamily="34" charset="-120"/>
              </a:rPr>
              <a:t>Ship real icons with text labels — </a:t>
            </a:r>
            <a:pPr algn="l" indent="0" marL="0">
              <a:lnSpc>
                <a:spcPct val="126422"/>
              </a:lnSpc>
              <a:buNone/>
            </a:pPr>
            <a:r>
              <a:rPr lang="en-US" sz="2175" b="1" dirty="0">
                <a:solidFill>
                  <a:srgbClr val="43506B"/>
                </a:solidFill>
                <a:latin typeface="Figtree" pitchFamily="34" charset="0"/>
                <a:ea typeface="Figtree" pitchFamily="34" charset="-122"/>
                <a:cs typeface="Figtree" pitchFamily="34" charset="-120"/>
              </a:rPr>
              <a:t>Home · Activity · Account</a:t>
            </a:r>
            <a:pPr algn="l" indent="0" marL="0">
              <a:lnSpc>
                <a:spcPct val="126422"/>
              </a:lnSpc>
              <a:buNone/>
            </a:pPr>
            <a:r>
              <a:rPr lang="en-US" sz="2175" dirty="0">
                <a:solidFill>
                  <a:srgbClr val="43506B"/>
                </a:solidFill>
                <a:latin typeface="Figtree" pitchFamily="34" charset="0"/>
                <a:ea typeface="Figtree" pitchFamily="34" charset="-122"/>
                <a:cs typeface="Figtree" pitchFamily="34" charset="-120"/>
              </a:rPr>
              <a:t>.</a:t>
            </a:r>
            <a:endParaRPr lang="en-US" sz="2175" dirty="0"/>
          </a:p>
        </p:txBody>
      </p:sp>
      <p:sp>
        <p:nvSpPr>
          <p:cNvPr id="10" name="Text 7"/>
          <p:cNvSpPr/>
          <p:nvPr/>
        </p:nvSpPr>
        <p:spPr>
          <a:xfrm>
            <a:off x="5197694" y="6509412"/>
            <a:ext cx="7983195" cy="894027"/>
          </a:xfrm>
          <a:prstGeom prst="rect">
            <a:avLst/>
          </a:prstGeom>
          <a:noFill/>
          <a:ln/>
        </p:spPr>
        <p:txBody>
          <a:bodyPr wrap="square" lIns="25400" tIns="25400" rIns="25400" bIns="25400" rtlCol="0" anchor="t">
            <a:normAutofit/>
          </a:bodyPr>
          <a:lstStyle/>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Label the active tab; an amber pill with no icon reads as broken, not selected.</a:t>
            </a:r>
            <a:endParaRPr lang="en-US" sz="2175" dirty="0"/>
          </a:p>
        </p:txBody>
      </p:sp>
      <p:sp>
        <p:nvSpPr>
          <p:cNvPr id="11" name="Text 8"/>
          <p:cNvSpPr/>
          <p:nvPr/>
        </p:nvSpPr>
        <p:spPr>
          <a:xfrm>
            <a:off x="5197694" y="7365339"/>
            <a:ext cx="7983195" cy="894027"/>
          </a:xfrm>
          <a:prstGeom prst="rect">
            <a:avLst/>
          </a:prstGeom>
          <a:noFill/>
          <a:ln/>
        </p:spPr>
        <p:txBody>
          <a:bodyPr wrap="square" lIns="25400" tIns="25400" rIns="25400" bIns="25400" rtlCol="0" anchor="t">
            <a:normAutofit/>
          </a:bodyPr>
          <a:lstStyle/>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Guarantee a fallback glyph so a missing asset never renders an empty box.</a:t>
            </a:r>
            <a:endParaRPr lang="en-US" sz="21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1047750" y="1489770"/>
            <a:ext cx="2851382" cy="427302"/>
          </a:xfrm>
          <a:prstGeom prst="roundRect">
            <a:avLst>
              <a:gd name="adj" fmla="val 50000"/>
            </a:avLst>
          </a:prstGeom>
          <a:solidFill>
            <a:srgbClr val="0D1424"/>
          </a:solidFill>
          <a:ln/>
        </p:spPr>
      </p:sp>
      <p:sp>
        <p:nvSpPr>
          <p:cNvPr id="3" name="Text 1"/>
          <p:cNvSpPr/>
          <p:nvPr/>
        </p:nvSpPr>
        <p:spPr>
          <a:xfrm>
            <a:off x="1219200" y="1565970"/>
            <a:ext cx="2594023" cy="313002"/>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Figtree" pitchFamily="34" charset="0"/>
                <a:ea typeface="Figtree" pitchFamily="34" charset="-122"/>
                <a:cs typeface="Figtree" pitchFamily="34" charset="-120"/>
              </a:rPr>
              <a:t>High impact · Quick win</a:t>
            </a:r>
            <a:endParaRPr lang="en-US" sz="1800" dirty="0"/>
          </a:p>
        </p:txBody>
      </p:sp>
      <p:sp>
        <p:nvSpPr>
          <p:cNvPr id="4" name="Text 2"/>
          <p:cNvSpPr/>
          <p:nvPr/>
        </p:nvSpPr>
        <p:spPr>
          <a:xfrm>
            <a:off x="1047750" y="2107572"/>
            <a:ext cx="10372726" cy="646311"/>
          </a:xfrm>
          <a:prstGeom prst="rect">
            <a:avLst/>
          </a:prstGeom>
          <a:noFill/>
          <a:ln/>
        </p:spPr>
        <p:txBody>
          <a:bodyPr wrap="square" lIns="25400" tIns="25400" rIns="25400" bIns="25400" rtlCol="0" anchor="t">
            <a:normAutofit/>
          </a:bodyPr>
          <a:lstStyle/>
          <a:p>
            <a:pPr algn="l" indent="0" marL="0">
              <a:lnSpc>
                <a:spcPct val="94220"/>
              </a:lnSpc>
              <a:buNone/>
            </a:pPr>
            <a:r>
              <a:rPr lang="en-US" sz="4650" b="1" spc="-93" kern="0" dirty="0">
                <a:solidFill>
                  <a:srgbClr val="0F172A"/>
                </a:solidFill>
                <a:latin typeface="Archivo" pitchFamily="34" charset="0"/>
                <a:ea typeface="Archivo" pitchFamily="34" charset="-122"/>
                <a:cs typeface="Archivo" pitchFamily="34" charset="-120"/>
              </a:rPr>
              <a:t>Two accent colours are fighting</a:t>
            </a:r>
            <a:endParaRPr lang="en-US" sz="4650" dirty="0"/>
          </a:p>
        </p:txBody>
      </p:sp>
      <p:sp>
        <p:nvSpPr>
          <p:cNvPr id="5" name="Text 3"/>
          <p:cNvSpPr/>
          <p:nvPr/>
        </p:nvSpPr>
        <p:spPr>
          <a:xfrm>
            <a:off x="1047750" y="2963333"/>
            <a:ext cx="7456171" cy="1810147"/>
          </a:xfrm>
          <a:prstGeom prst="rect">
            <a:avLst/>
          </a:prstGeom>
          <a:noFill/>
          <a:ln/>
        </p:spPr>
        <p:txBody>
          <a:bodyPr wrap="square" lIns="25400" tIns="25400" rIns="25400" bIns="25400" rtlCol="0" anchor="t">
            <a:normAutofit/>
          </a:bodyPr>
          <a:lstStyle/>
          <a:p>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Amber owns your primary actions — but a saturated blue appears on </a:t>
            </a:r>
            <a:pPr algn="l" indent="0" marL="0">
              <a:lnSpc>
                <a:spcPct val="123088"/>
              </a:lnSpc>
              <a:buNone/>
            </a:pPr>
            <a:r>
              <a:rPr lang="en-US" sz="2325" i="1" dirty="0">
                <a:solidFill>
                  <a:srgbClr val="43506B"/>
                </a:solidFill>
                <a:latin typeface="Figtree" pitchFamily="34" charset="0"/>
                <a:ea typeface="Figtree" pitchFamily="34" charset="-122"/>
                <a:cs typeface="Figtree" pitchFamily="34" charset="-120"/>
              </a:rPr>
              <a:t>Use my current location</a:t>
            </a:r>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 </a:t>
            </a:r>
            <a:pPr algn="l" indent="0" marL="0">
              <a:lnSpc>
                <a:spcPct val="123088"/>
              </a:lnSpc>
              <a:buNone/>
            </a:pPr>
            <a:r>
              <a:rPr lang="en-US" sz="2325" i="1" dirty="0">
                <a:solidFill>
                  <a:srgbClr val="43506B"/>
                </a:solidFill>
                <a:latin typeface="Figtree" pitchFamily="34" charset="0"/>
                <a:ea typeface="Figtree" pitchFamily="34" charset="-122"/>
                <a:cs typeface="Figtree" pitchFamily="34" charset="-120"/>
              </a:rPr>
              <a:t>Camera </a:t>
            </a:r>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and </a:t>
            </a:r>
            <a:pPr algn="l" indent="0" marL="0">
              <a:lnSpc>
                <a:spcPct val="123088"/>
              </a:lnSpc>
              <a:buNone/>
            </a:pPr>
            <a:r>
              <a:rPr lang="en-US" sz="2325" i="1" dirty="0">
                <a:solidFill>
                  <a:srgbClr val="43506B"/>
                </a:solidFill>
                <a:latin typeface="Figtree" pitchFamily="34" charset="0"/>
                <a:ea typeface="Figtree" pitchFamily="34" charset="-122"/>
                <a:cs typeface="Figtree" pitchFamily="34" charset="-120"/>
              </a:rPr>
              <a:t>Gallery </a:t>
            </a:r>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 Two loud accents on one screen split attention and weaken the brand.</a:t>
            </a:r>
            <a:endParaRPr lang="en-US" sz="2325" dirty="0"/>
          </a:p>
        </p:txBody>
      </p:sp>
      <p:sp>
        <p:nvSpPr>
          <p:cNvPr id="6" name="Shape 4"/>
          <p:cNvSpPr/>
          <p:nvPr/>
        </p:nvSpPr>
        <p:spPr>
          <a:xfrm>
            <a:off x="1047750" y="5021131"/>
            <a:ext cx="1143000" cy="666750"/>
          </a:xfrm>
          <a:prstGeom prst="roundRect">
            <a:avLst>
              <a:gd name="adj" fmla="val 17143"/>
            </a:avLst>
          </a:prstGeom>
          <a:solidFill>
            <a:srgbClr val="FBB040"/>
          </a:solidFill>
          <a:ln/>
        </p:spPr>
      </p:sp>
      <p:sp>
        <p:nvSpPr>
          <p:cNvPr id="7" name="Text 5"/>
          <p:cNvSpPr/>
          <p:nvPr/>
        </p:nvSpPr>
        <p:spPr>
          <a:xfrm>
            <a:off x="982844" y="5763948"/>
            <a:ext cx="1427923" cy="313267"/>
          </a:xfrm>
          <a:prstGeom prst="rect">
            <a:avLst/>
          </a:prstGeom>
          <a:noFill/>
          <a:ln/>
        </p:spPr>
        <p:txBody>
          <a:bodyPr wrap="square" lIns="25400" tIns="25400" rIns="25400" bIns="25400" rtlCol="0" anchor="t">
            <a:normAutofit/>
          </a:bodyPr>
          <a:lstStyle/>
          <a:p>
            <a:pPr algn="ctr" indent="0" marL="0">
              <a:buNone/>
            </a:pPr>
            <a:r>
              <a:rPr lang="en-US" sz="1800" dirty="0">
                <a:solidFill>
                  <a:srgbClr val="5B6B85"/>
                </a:solidFill>
                <a:latin typeface="Figtree" pitchFamily="34" charset="0"/>
                <a:ea typeface="Figtree" pitchFamily="34" charset="-122"/>
                <a:cs typeface="Figtree" pitchFamily="34" charset="-120"/>
              </a:rPr>
              <a:t>Brand amber</a:t>
            </a:r>
            <a:endParaRPr lang="en-US" sz="1800" dirty="0"/>
          </a:p>
        </p:txBody>
      </p:sp>
      <p:sp>
        <p:nvSpPr>
          <p:cNvPr id="8" name="Shape 6"/>
          <p:cNvSpPr/>
          <p:nvPr/>
        </p:nvSpPr>
        <p:spPr>
          <a:xfrm>
            <a:off x="2479146" y="5021131"/>
            <a:ext cx="1143000" cy="666750"/>
          </a:xfrm>
          <a:prstGeom prst="roundRect">
            <a:avLst>
              <a:gd name="adj" fmla="val 17143"/>
            </a:avLst>
          </a:prstGeom>
          <a:solidFill>
            <a:srgbClr val="2F6BFF"/>
          </a:solidFill>
          <a:ln/>
        </p:spPr>
      </p:sp>
      <p:sp>
        <p:nvSpPr>
          <p:cNvPr id="9" name="Text 7"/>
          <p:cNvSpPr/>
          <p:nvPr/>
        </p:nvSpPr>
        <p:spPr>
          <a:xfrm>
            <a:off x="2441046" y="5763948"/>
            <a:ext cx="1219200" cy="313267"/>
          </a:xfrm>
          <a:prstGeom prst="rect">
            <a:avLst/>
          </a:prstGeom>
          <a:noFill/>
          <a:ln/>
        </p:spPr>
        <p:txBody>
          <a:bodyPr wrap="square" lIns="25400" tIns="25400" rIns="25400" bIns="25400" rtlCol="0" anchor="t">
            <a:normAutofit/>
          </a:bodyPr>
          <a:lstStyle/>
          <a:p>
            <a:pPr algn="ctr" indent="0" marL="0">
              <a:buNone/>
            </a:pPr>
            <a:r>
              <a:rPr lang="en-US" sz="1800" dirty="0">
                <a:solidFill>
                  <a:srgbClr val="5B6B85"/>
                </a:solidFill>
                <a:latin typeface="Figtree" pitchFamily="34" charset="0"/>
                <a:ea typeface="Figtree" pitchFamily="34" charset="-122"/>
                <a:cs typeface="Figtree" pitchFamily="34" charset="-120"/>
              </a:rPr>
              <a:t>Stray blue</a:t>
            </a:r>
            <a:endParaRPr lang="en-US" sz="1800" dirty="0"/>
          </a:p>
        </p:txBody>
      </p:sp>
      <p:sp>
        <p:nvSpPr>
          <p:cNvPr id="10" name="Text 8"/>
          <p:cNvSpPr/>
          <p:nvPr/>
        </p:nvSpPr>
        <p:spPr>
          <a:xfrm>
            <a:off x="1047750" y="6324865"/>
            <a:ext cx="10372726" cy="313267"/>
          </a:xfrm>
          <a:prstGeom prst="rect">
            <a:avLst/>
          </a:prstGeom>
          <a:noFill/>
          <a:ln/>
        </p:spPr>
        <p:txBody>
          <a:bodyPr wrap="square" lIns="25400" tIns="25400" rIns="25400" bIns="25400" rtlCol="0" anchor="t">
            <a:normAutofit/>
          </a:bodyPr>
          <a:lstStyle/>
          <a:p>
            <a:pPr algn="l" indent="0" marL="0">
              <a:buNone/>
            </a:pPr>
            <a:r>
              <a:rPr lang="en-US" sz="1950" b="1" dirty="0">
                <a:solidFill>
                  <a:srgbClr val="0F172A"/>
                </a:solidFill>
                <a:latin typeface="Archivo" pitchFamily="34" charset="0"/>
                <a:ea typeface="Archivo" pitchFamily="34" charset="-122"/>
                <a:cs typeface="Archivo" pitchFamily="34" charset="-120"/>
              </a:rPr>
              <a:t>Do this</a:t>
            </a:r>
            <a:endParaRPr lang="en-US" sz="1950" dirty="0"/>
          </a:p>
        </p:txBody>
      </p:sp>
      <p:sp>
        <p:nvSpPr>
          <p:cNvPr id="11" name="Text 9"/>
          <p:cNvSpPr/>
          <p:nvPr/>
        </p:nvSpPr>
        <p:spPr>
          <a:xfrm>
            <a:off x="1101943" y="6733315"/>
            <a:ext cx="7261007" cy="2177918"/>
          </a:xfrm>
          <a:prstGeom prst="rect">
            <a:avLst/>
          </a:prstGeom>
          <a:noFill/>
          <a:ln/>
        </p:spPr>
        <p:txBody>
          <a:bodyPr wrap="square" lIns="25400" tIns="25400" rIns="25400" bIns="25400" rtlCol="0" anchor="t">
            <a:normAutofit/>
          </a:bodyPr>
          <a:lstStyle/>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One primary colour: amber for the action that moves the flow forward.</a:t>
            </a:r>
            <a:endParaRPr lang="en-US" sz="2175" dirty="0"/>
          </a:p>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Make supporting actions neutral — outlined or grey, not a second brand colour.</a:t>
            </a:r>
            <a:endParaRPr lang="en-US" sz="2175" dirty="0"/>
          </a:p>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Reserve blue, if at all, for informational links only.</a:t>
            </a:r>
            <a:endParaRPr lang="en-US" sz="2175" dirty="0"/>
          </a:p>
        </p:txBody>
      </p:sp>
      <p:sp>
        <p:nvSpPr>
          <p:cNvPr id="12" name="Shape 10"/>
          <p:cNvSpPr/>
          <p:nvPr/>
        </p:nvSpPr>
        <p:spPr>
          <a:xfrm>
            <a:off x="11144250" y="2101949"/>
            <a:ext cx="2857500" cy="6159169"/>
          </a:xfrm>
          <a:prstGeom prst="roundRect">
            <a:avLst>
              <a:gd name="adj" fmla="val 9333"/>
            </a:avLst>
          </a:prstGeom>
          <a:ln w="10583">
            <a:solidFill>
              <a:srgbClr val="0F172A">
                <a:alpha val="8000"/>
              </a:srgbClr>
            </a:solidFill>
            <a:prstDash val="solid"/>
          </a:ln>
          <a:effectLst>
            <a:outerShdw sx="100000" sy="100000" kx="0" ky="0" algn="bl" rotWithShape="0" blurRad="666750" dist="285750" dir="5400000">
              <a:srgbClr val="0D1424">
                <a:alpha val="28000"/>
              </a:srgbClr>
            </a:outerShdw>
          </a:effectLst>
        </p:spPr>
      </p:sp>
      <p:pic>
        <p:nvPicPr>
          <p:cNvPr id="13" name="Image 0" descr="preencoded.png">    </p:cNvPr>
          <p:cNvPicPr>
            <a:picLocks noChangeAspect="1"/>
          </p:cNvPicPr>
          <p:nvPr/>
        </p:nvPicPr>
        <p:blipFill>
          <a:blip r:embed="rId1"/>
          <a:stretch>
            <a:fillRect/>
          </a:stretch>
        </p:blipFill>
        <p:spPr>
          <a:xfrm>
            <a:off x="11144250" y="2101949"/>
            <a:ext cx="2857500" cy="6159169"/>
          </a:xfrm>
          <a:prstGeom prst="rect">
            <a:avLst/>
          </a:prstGeom>
        </p:spPr>
      </p:pic>
      <p:sp>
        <p:nvSpPr>
          <p:cNvPr id="14" name="Shape 11"/>
          <p:cNvSpPr/>
          <p:nvPr/>
        </p:nvSpPr>
        <p:spPr>
          <a:xfrm>
            <a:off x="14192251" y="2101949"/>
            <a:ext cx="2857500" cy="6159169"/>
          </a:xfrm>
          <a:prstGeom prst="roundRect">
            <a:avLst>
              <a:gd name="adj" fmla="val 9333"/>
            </a:avLst>
          </a:prstGeom>
          <a:ln w="10583">
            <a:solidFill>
              <a:srgbClr val="0F172A">
                <a:alpha val="8000"/>
              </a:srgbClr>
            </a:solidFill>
            <a:prstDash val="solid"/>
          </a:ln>
          <a:effectLst>
            <a:outerShdw sx="100000" sy="100000" kx="0" ky="0" algn="bl" rotWithShape="0" blurRad="666750" dist="285750" dir="5400000">
              <a:srgbClr val="0D1424">
                <a:alpha val="28000"/>
              </a:srgbClr>
            </a:outerShdw>
          </a:effectLst>
        </p:spPr>
      </p:sp>
      <p:pic>
        <p:nvPicPr>
          <p:cNvPr id="15" name="Image 1" descr="preencoded.png">    </p:cNvPr>
          <p:cNvPicPr>
            <a:picLocks noChangeAspect="1"/>
          </p:cNvPicPr>
          <p:nvPr/>
        </p:nvPicPr>
        <p:blipFill>
          <a:blip r:embed="rId2"/>
          <a:stretch>
            <a:fillRect/>
          </a:stretch>
        </p:blipFill>
        <p:spPr>
          <a:xfrm>
            <a:off x="14192251" y="2101949"/>
            <a:ext cx="2857500" cy="615916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1047750" y="2101949"/>
            <a:ext cx="2857500" cy="6159169"/>
          </a:xfrm>
          <a:prstGeom prst="roundRect">
            <a:avLst>
              <a:gd name="adj" fmla="val 9333"/>
            </a:avLst>
          </a:prstGeom>
          <a:ln w="10583">
            <a:solidFill>
              <a:srgbClr val="0F172A">
                <a:alpha val="8000"/>
              </a:srgbClr>
            </a:solidFill>
            <a:prstDash val="solid"/>
          </a:ln>
          <a:effectLst>
            <a:outerShdw sx="100000" sy="100000" kx="0" ky="0" algn="bl" rotWithShape="0" blurRad="666750" dist="285750" dir="5400000">
              <a:srgbClr val="0D1424">
                <a:alpha val="28000"/>
              </a:srgbClr>
            </a:outerShdw>
          </a:effectLst>
        </p:spPr>
      </p:sp>
      <p:pic>
        <p:nvPicPr>
          <p:cNvPr id="3" name="Image 0" descr="preencoded.png">    </p:cNvPr>
          <p:cNvPicPr>
            <a:picLocks noChangeAspect="1"/>
          </p:cNvPicPr>
          <p:nvPr/>
        </p:nvPicPr>
        <p:blipFill>
          <a:blip r:embed="rId1"/>
          <a:stretch>
            <a:fillRect/>
          </a:stretch>
        </p:blipFill>
        <p:spPr>
          <a:xfrm>
            <a:off x="1047750" y="2101949"/>
            <a:ext cx="2857500" cy="6159169"/>
          </a:xfrm>
          <a:prstGeom prst="rect">
            <a:avLst/>
          </a:prstGeom>
        </p:spPr>
      </p:pic>
      <p:sp>
        <p:nvSpPr>
          <p:cNvPr id="4" name="Shape 1"/>
          <p:cNvSpPr/>
          <p:nvPr/>
        </p:nvSpPr>
        <p:spPr>
          <a:xfrm>
            <a:off x="4095750" y="2101949"/>
            <a:ext cx="2857500" cy="6159169"/>
          </a:xfrm>
          <a:prstGeom prst="roundRect">
            <a:avLst>
              <a:gd name="adj" fmla="val 9333"/>
            </a:avLst>
          </a:prstGeom>
          <a:ln w="10583">
            <a:solidFill>
              <a:srgbClr val="0F172A">
                <a:alpha val="8000"/>
              </a:srgbClr>
            </a:solidFill>
            <a:prstDash val="solid"/>
          </a:ln>
          <a:effectLst>
            <a:outerShdw sx="100000" sy="100000" kx="0" ky="0" algn="bl" rotWithShape="0" blurRad="666750" dist="285750" dir="5400000">
              <a:srgbClr val="0D1424">
                <a:alpha val="28000"/>
              </a:srgbClr>
            </a:outerShdw>
          </a:effectLst>
        </p:spPr>
      </p:sp>
      <p:pic>
        <p:nvPicPr>
          <p:cNvPr id="5" name="Image 1" descr="preencoded.png">    </p:cNvPr>
          <p:cNvPicPr>
            <a:picLocks noChangeAspect="1"/>
          </p:cNvPicPr>
          <p:nvPr/>
        </p:nvPicPr>
        <p:blipFill>
          <a:blip r:embed="rId2"/>
          <a:stretch>
            <a:fillRect/>
          </a:stretch>
        </p:blipFill>
        <p:spPr>
          <a:xfrm>
            <a:off x="4095750" y="2101949"/>
            <a:ext cx="2857500" cy="6159169"/>
          </a:xfrm>
          <a:prstGeom prst="rect">
            <a:avLst/>
          </a:prstGeom>
        </p:spPr>
      </p:pic>
      <p:sp>
        <p:nvSpPr>
          <p:cNvPr id="6" name="Shape 2"/>
          <p:cNvSpPr/>
          <p:nvPr/>
        </p:nvSpPr>
        <p:spPr>
          <a:xfrm>
            <a:off x="7810501" y="1927655"/>
            <a:ext cx="1979249" cy="427302"/>
          </a:xfrm>
          <a:prstGeom prst="roundRect">
            <a:avLst>
              <a:gd name="adj" fmla="val 50000"/>
            </a:avLst>
          </a:prstGeom>
          <a:solidFill>
            <a:srgbClr val="5B6B85"/>
          </a:solidFill>
          <a:ln/>
        </p:spPr>
      </p:sp>
      <p:sp>
        <p:nvSpPr>
          <p:cNvPr id="7" name="Text 3"/>
          <p:cNvSpPr/>
          <p:nvPr/>
        </p:nvSpPr>
        <p:spPr>
          <a:xfrm>
            <a:off x="7981951" y="2003855"/>
            <a:ext cx="1712549" cy="313002"/>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Figtree" pitchFamily="34" charset="0"/>
                <a:ea typeface="Figtree" pitchFamily="34" charset="-122"/>
                <a:cs typeface="Figtree" pitchFamily="34" charset="-120"/>
              </a:rPr>
              <a:t>Medium impact</a:t>
            </a:r>
            <a:endParaRPr lang="en-US" sz="1800" dirty="0"/>
          </a:p>
        </p:txBody>
      </p:sp>
      <p:sp>
        <p:nvSpPr>
          <p:cNvPr id="8" name="Text 4"/>
          <p:cNvSpPr/>
          <p:nvPr/>
        </p:nvSpPr>
        <p:spPr>
          <a:xfrm>
            <a:off x="7810501" y="2545457"/>
            <a:ext cx="10372726" cy="646311"/>
          </a:xfrm>
          <a:prstGeom prst="rect">
            <a:avLst/>
          </a:prstGeom>
          <a:noFill/>
          <a:ln/>
        </p:spPr>
        <p:txBody>
          <a:bodyPr wrap="square" lIns="25400" tIns="25400" rIns="25400" bIns="25400" rtlCol="0" anchor="t">
            <a:normAutofit/>
          </a:bodyPr>
          <a:lstStyle/>
          <a:p>
            <a:pPr algn="l" indent="0" marL="0">
              <a:lnSpc>
                <a:spcPct val="94220"/>
              </a:lnSpc>
              <a:buNone/>
            </a:pPr>
            <a:r>
              <a:rPr lang="en-US" sz="4650" b="1" spc="-93" kern="0" dirty="0">
                <a:solidFill>
                  <a:srgbClr val="0F172A"/>
                </a:solidFill>
                <a:latin typeface="Archivo" pitchFamily="34" charset="0"/>
                <a:ea typeface="Archivo" pitchFamily="34" charset="-122"/>
                <a:cs typeface="Archivo" pitchFamily="34" charset="-120"/>
              </a:rPr>
              <a:t>Emoji are doing an icon's job</a:t>
            </a:r>
            <a:endParaRPr lang="en-US" sz="4650" dirty="0"/>
          </a:p>
        </p:txBody>
      </p:sp>
      <p:sp>
        <p:nvSpPr>
          <p:cNvPr id="9" name="Text 5"/>
          <p:cNvSpPr/>
          <p:nvPr/>
        </p:nvSpPr>
        <p:spPr>
          <a:xfrm>
            <a:off x="7810501" y="3401219"/>
            <a:ext cx="7456171" cy="1810147"/>
          </a:xfrm>
          <a:prstGeom prst="rect">
            <a:avLst/>
          </a:prstGeom>
          <a:noFill/>
          <a:ln/>
        </p:spPr>
        <p:txBody>
          <a:bodyPr wrap="square" lIns="25400" tIns="25400" rIns="25400" bIns="25400" rtlCol="0" anchor="t">
            <a:normAutofit/>
          </a:bodyPr>
          <a:lstStyle/>
          <a:p>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The home grid uses large colour emoji; step 1 uses the same emoji shrunk into grey pills. Emoji render differently on every Android device, don't match your brand, and quietly signal "placeholder."</a:t>
            </a:r>
            <a:endParaRPr lang="en-US" sz="2325" dirty="0"/>
          </a:p>
        </p:txBody>
      </p:sp>
      <p:sp>
        <p:nvSpPr>
          <p:cNvPr id="10" name="Text 6"/>
          <p:cNvSpPr/>
          <p:nvPr/>
        </p:nvSpPr>
        <p:spPr>
          <a:xfrm>
            <a:off x="7810501" y="5459016"/>
            <a:ext cx="10372726" cy="313267"/>
          </a:xfrm>
          <a:prstGeom prst="rect">
            <a:avLst/>
          </a:prstGeom>
          <a:noFill/>
          <a:ln/>
        </p:spPr>
        <p:txBody>
          <a:bodyPr wrap="square" lIns="25400" tIns="25400" rIns="25400" bIns="25400" rtlCol="0" anchor="t">
            <a:normAutofit/>
          </a:bodyPr>
          <a:lstStyle/>
          <a:p>
            <a:pPr algn="l" indent="0" marL="0">
              <a:buNone/>
            </a:pPr>
            <a:r>
              <a:rPr lang="en-US" sz="1950" b="1" dirty="0">
                <a:solidFill>
                  <a:srgbClr val="0F172A"/>
                </a:solidFill>
                <a:latin typeface="Archivo" pitchFamily="34" charset="0"/>
                <a:ea typeface="Archivo" pitchFamily="34" charset="-122"/>
                <a:cs typeface="Archivo" pitchFamily="34" charset="-120"/>
              </a:rPr>
              <a:t>Do this</a:t>
            </a:r>
            <a:endParaRPr lang="en-US" sz="1950" dirty="0"/>
          </a:p>
        </p:txBody>
      </p:sp>
      <p:sp>
        <p:nvSpPr>
          <p:cNvPr id="11" name="Text 7"/>
          <p:cNvSpPr/>
          <p:nvPr/>
        </p:nvSpPr>
        <p:spPr>
          <a:xfrm>
            <a:off x="7864694" y="5867466"/>
            <a:ext cx="7261007" cy="2605881"/>
          </a:xfrm>
          <a:prstGeom prst="rect">
            <a:avLst/>
          </a:prstGeom>
          <a:noFill/>
          <a:ln/>
        </p:spPr>
        <p:txBody>
          <a:bodyPr wrap="square" lIns="25400" tIns="25400" rIns="25400" bIns="25400" rtlCol="0" anchor="t">
            <a:normAutofit/>
          </a:bodyPr>
          <a:lstStyle/>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Commission one trade icon set — a consistent line or duotone style.</a:t>
            </a:r>
            <a:endParaRPr lang="en-US" sz="2175" dirty="0"/>
          </a:p>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Use the same icon for a trade everywhere it appears, at one visual weight.</a:t>
            </a:r>
            <a:endParaRPr lang="en-US" sz="2175" dirty="0"/>
          </a:p>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Bonus: a small licence/verified mark on each becomes a reusable trust cue.</a:t>
            </a:r>
            <a:endParaRPr lang="en-US" sz="21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1047750" y="838068"/>
            <a:ext cx="3199805" cy="427302"/>
          </a:xfrm>
          <a:prstGeom prst="roundRect">
            <a:avLst>
              <a:gd name="adj" fmla="val 50000"/>
            </a:avLst>
          </a:prstGeom>
          <a:solidFill>
            <a:srgbClr val="5B6B85"/>
          </a:solidFill>
          <a:ln/>
        </p:spPr>
      </p:sp>
      <p:sp>
        <p:nvSpPr>
          <p:cNvPr id="3" name="Text 1"/>
          <p:cNvSpPr/>
          <p:nvPr/>
        </p:nvSpPr>
        <p:spPr>
          <a:xfrm>
            <a:off x="1219200" y="914268"/>
            <a:ext cx="2952899" cy="313002"/>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Figtree" pitchFamily="34" charset="0"/>
                <a:ea typeface="Figtree" pitchFamily="34" charset="-122"/>
                <a:cs typeface="Figtree" pitchFamily="34" charset="-120"/>
              </a:rPr>
              <a:t>Medium impact · Quick win</a:t>
            </a:r>
            <a:endParaRPr lang="en-US" sz="1800" dirty="0"/>
          </a:p>
        </p:txBody>
      </p:sp>
      <p:sp>
        <p:nvSpPr>
          <p:cNvPr id="4" name="Text 2"/>
          <p:cNvSpPr/>
          <p:nvPr/>
        </p:nvSpPr>
        <p:spPr>
          <a:xfrm>
            <a:off x="1047750" y="1436688"/>
            <a:ext cx="17811751" cy="646311"/>
          </a:xfrm>
          <a:prstGeom prst="rect">
            <a:avLst/>
          </a:prstGeom>
          <a:noFill/>
          <a:ln/>
        </p:spPr>
        <p:txBody>
          <a:bodyPr wrap="square" lIns="25400" tIns="25400" rIns="25400" bIns="25400" rtlCol="0" anchor="t">
            <a:normAutofit/>
          </a:bodyPr>
          <a:lstStyle/>
          <a:p>
            <a:pPr algn="l" indent="0" marL="0">
              <a:lnSpc>
                <a:spcPct val="94220"/>
              </a:lnSpc>
              <a:buNone/>
            </a:pPr>
            <a:r>
              <a:rPr lang="en-US" sz="4650" b="1" spc="-93" kern="0" dirty="0">
                <a:solidFill>
                  <a:srgbClr val="0F172A"/>
                </a:solidFill>
                <a:latin typeface="Archivo" pitchFamily="34" charset="0"/>
                <a:ea typeface="Archivo" pitchFamily="34" charset="-122"/>
                <a:cs typeface="Archivo" pitchFamily="34" charset="-120"/>
              </a:rPr>
              <a:t>Small states send big signals</a:t>
            </a:r>
            <a:endParaRPr lang="en-US" sz="4650" dirty="0"/>
          </a:p>
        </p:txBody>
      </p:sp>
      <p:sp>
        <p:nvSpPr>
          <p:cNvPr id="5" name="Text 3"/>
          <p:cNvSpPr/>
          <p:nvPr/>
        </p:nvSpPr>
        <p:spPr>
          <a:xfrm>
            <a:off x="1047750" y="2463932"/>
            <a:ext cx="8675407" cy="366183"/>
          </a:xfrm>
          <a:prstGeom prst="rect">
            <a:avLst/>
          </a:prstGeom>
          <a:noFill/>
          <a:ln/>
        </p:spPr>
        <p:txBody>
          <a:bodyPr wrap="square" lIns="25400" tIns="25400" rIns="25400" bIns="25400" rtlCol="0" anchor="t">
            <a:normAutofit/>
          </a:bodyPr>
          <a:lstStyle/>
          <a:p>
            <a:pPr algn="l" indent="0" marL="0">
              <a:buNone/>
            </a:pPr>
            <a:r>
              <a:rPr lang="en-US" sz="2400" b="1" dirty="0">
                <a:solidFill>
                  <a:srgbClr val="0F172A"/>
                </a:solidFill>
                <a:latin typeface="Archivo" pitchFamily="34" charset="0"/>
                <a:ea typeface="Archivo" pitchFamily="34" charset="-122"/>
                <a:cs typeface="Archivo" pitchFamily="34" charset="-120"/>
              </a:rPr>
              <a:t>Disabled reads as broken</a:t>
            </a:r>
            <a:endParaRPr lang="en-US" sz="2400" dirty="0"/>
          </a:p>
        </p:txBody>
      </p:sp>
      <p:sp>
        <p:nvSpPr>
          <p:cNvPr id="6" name="Text 4"/>
          <p:cNvSpPr/>
          <p:nvPr/>
        </p:nvSpPr>
        <p:spPr>
          <a:xfrm>
            <a:off x="1047750" y="2944317"/>
            <a:ext cx="8123336" cy="1238151"/>
          </a:xfrm>
          <a:prstGeom prst="rect">
            <a:avLst/>
          </a:prstGeom>
          <a:noFill/>
          <a:ln/>
        </p:spPr>
        <p:txBody>
          <a:bodyPr wrap="square" lIns="25400" tIns="25400" rIns="25400" bIns="25400" rtlCol="0" anchor="t">
            <a:normAutofit/>
          </a:bodyPr>
          <a:lstStyle/>
          <a:p>
            <a:pPr algn="l" indent="0" marL="0">
              <a:lnSpc>
                <a:spcPct val="126000"/>
              </a:lnSpc>
              <a:buNone/>
            </a:pPr>
            <a:r>
              <a:rPr lang="en-US" sz="2100" dirty="0">
                <a:solidFill>
                  <a:srgbClr val="43506B"/>
                </a:solidFill>
                <a:latin typeface="Figtree" pitchFamily="34" charset="0"/>
                <a:ea typeface="Figtree" pitchFamily="34" charset="-122"/>
                <a:cs typeface="Figtree" pitchFamily="34" charset="-120"/>
              </a:rPr>
              <a:t>The faded-amber </a:t>
            </a:r>
            <a:pPr algn="l" indent="0" marL="0">
              <a:lnSpc>
                <a:spcPct val="126000"/>
              </a:lnSpc>
              <a:buNone/>
            </a:pPr>
            <a:r>
              <a:rPr lang="en-US" sz="2100" i="1" dirty="0">
                <a:solidFill>
                  <a:srgbClr val="43506B"/>
                </a:solidFill>
                <a:latin typeface="Figtree" pitchFamily="34" charset="0"/>
                <a:ea typeface="Figtree" pitchFamily="34" charset="-122"/>
                <a:cs typeface="Figtree" pitchFamily="34" charset="-120"/>
              </a:rPr>
              <a:t>Continue </a:t>
            </a:r>
            <a:pPr algn="l" indent="0" marL="0">
              <a:lnSpc>
                <a:spcPct val="126000"/>
              </a:lnSpc>
              <a:buNone/>
            </a:pPr>
            <a:r>
              <a:rPr lang="en-US" sz="2100" dirty="0">
                <a:solidFill>
                  <a:srgbClr val="43506B"/>
                </a:solidFill>
                <a:latin typeface="Figtree" pitchFamily="34" charset="0"/>
                <a:ea typeface="Figtree" pitchFamily="34" charset="-122"/>
                <a:cs typeface="Figtree" pitchFamily="34" charset="-120"/>
              </a:rPr>
              <a:t>before a selection looks like a bug, not a "not yet." Use a clearly-inactive grey, and let the button explain what's missing — </a:t>
            </a:r>
            <a:pPr algn="l" indent="0" marL="0">
              <a:lnSpc>
                <a:spcPct val="126000"/>
              </a:lnSpc>
              <a:buNone/>
            </a:pPr>
            <a:r>
              <a:rPr lang="en-US" sz="2100" i="1" dirty="0">
                <a:solidFill>
                  <a:srgbClr val="43506B"/>
                </a:solidFill>
                <a:latin typeface="Figtree" pitchFamily="34" charset="0"/>
                <a:ea typeface="Figtree" pitchFamily="34" charset="-122"/>
                <a:cs typeface="Figtree" pitchFamily="34" charset="-120"/>
              </a:rPr>
              <a:t>"Pick a trade to continue."</a:t>
            </a:r>
            <a:endParaRPr lang="en-US" sz="2100" dirty="0"/>
          </a:p>
        </p:txBody>
      </p:sp>
      <p:sp>
        <p:nvSpPr>
          <p:cNvPr id="7" name="Shape 5"/>
          <p:cNvSpPr/>
          <p:nvPr/>
        </p:nvSpPr>
        <p:spPr>
          <a:xfrm>
            <a:off x="1047750" y="4396383"/>
            <a:ext cx="2381250" cy="5128617"/>
          </a:xfrm>
          <a:prstGeom prst="roundRect">
            <a:avLst>
              <a:gd name="adj" fmla="val 9600"/>
            </a:avLst>
          </a:prstGeom>
          <a:ln w="10583">
            <a:solidFill>
              <a:srgbClr val="0F172A">
                <a:alpha val="8000"/>
              </a:srgbClr>
            </a:solidFill>
            <a:prstDash val="solid"/>
          </a:ln>
          <a:effectLst>
            <a:outerShdw sx="100000" sy="100000" kx="0" ky="0" algn="bl" rotWithShape="0" blurRad="533400" dist="228600" dir="5400000">
              <a:srgbClr val="0D1424">
                <a:alpha val="24000"/>
              </a:srgbClr>
            </a:outerShdw>
          </a:effectLst>
        </p:spPr>
      </p:sp>
      <p:pic>
        <p:nvPicPr>
          <p:cNvPr id="8" name="Image 0" descr="preencoded.png">    </p:cNvPr>
          <p:cNvPicPr>
            <a:picLocks noChangeAspect="1"/>
          </p:cNvPicPr>
          <p:nvPr/>
        </p:nvPicPr>
        <p:blipFill>
          <a:blip r:embed="rId1"/>
          <a:stretch>
            <a:fillRect/>
          </a:stretch>
        </p:blipFill>
        <p:spPr>
          <a:xfrm>
            <a:off x="1047750" y="4396383"/>
            <a:ext cx="2381250" cy="5128617"/>
          </a:xfrm>
          <a:prstGeom prst="rect">
            <a:avLst/>
          </a:prstGeom>
        </p:spPr>
      </p:pic>
      <p:sp>
        <p:nvSpPr>
          <p:cNvPr id="9" name="Text 6"/>
          <p:cNvSpPr/>
          <p:nvPr/>
        </p:nvSpPr>
        <p:spPr>
          <a:xfrm>
            <a:off x="9353517" y="2463932"/>
            <a:ext cx="8675407" cy="366183"/>
          </a:xfrm>
          <a:prstGeom prst="rect">
            <a:avLst/>
          </a:prstGeom>
          <a:noFill/>
          <a:ln/>
        </p:spPr>
        <p:txBody>
          <a:bodyPr wrap="square" lIns="25400" tIns="25400" rIns="25400" bIns="25400" rtlCol="0" anchor="t">
            <a:normAutofit/>
          </a:bodyPr>
          <a:lstStyle/>
          <a:p>
            <a:pPr algn="l" indent="0" marL="0">
              <a:buNone/>
            </a:pPr>
            <a:r>
              <a:rPr lang="en-US" sz="2400" b="1" dirty="0">
                <a:solidFill>
                  <a:srgbClr val="0F172A"/>
                </a:solidFill>
                <a:latin typeface="Archivo" pitchFamily="34" charset="0"/>
                <a:ea typeface="Archivo" pitchFamily="34" charset="-122"/>
                <a:cs typeface="Archivo" pitchFamily="34" charset="-120"/>
              </a:rPr>
              <a:t>Zeros feel like a dead app</a:t>
            </a:r>
            <a:endParaRPr lang="en-US" sz="2400" dirty="0"/>
          </a:p>
        </p:txBody>
      </p:sp>
      <p:sp>
        <p:nvSpPr>
          <p:cNvPr id="10" name="Text 7"/>
          <p:cNvSpPr/>
          <p:nvPr/>
        </p:nvSpPr>
        <p:spPr>
          <a:xfrm>
            <a:off x="9353517" y="2944317"/>
            <a:ext cx="8123336" cy="1238151"/>
          </a:xfrm>
          <a:prstGeom prst="rect">
            <a:avLst/>
          </a:prstGeom>
          <a:noFill/>
          <a:ln/>
        </p:spPr>
        <p:txBody>
          <a:bodyPr wrap="square" lIns="25400" tIns="25400" rIns="25400" bIns="25400" rtlCol="0" anchor="t">
            <a:normAutofit/>
          </a:bodyPr>
          <a:lstStyle/>
          <a:p>
            <a:pPr algn="l" indent="0" marL="0">
              <a:lnSpc>
                <a:spcPct val="126000"/>
              </a:lnSpc>
              <a:buNone/>
            </a:pPr>
            <a:r>
              <a:rPr lang="en-US" sz="2100" dirty="0">
                <a:solidFill>
                  <a:srgbClr val="43506B"/>
                </a:solidFill>
                <a:latin typeface="Figtree" pitchFamily="34" charset="0"/>
                <a:ea typeface="Figtree" pitchFamily="34" charset="-122"/>
                <a:cs typeface="Figtree" pitchFamily="34" charset="-120"/>
              </a:rPr>
              <a:t>A new company portal opens on four bold zeros and a blank dash. First impression: nothing works. Replace cold metrics with a setup state — see the conversion section.</a:t>
            </a:r>
            <a:endParaRPr lang="en-US" sz="2100" dirty="0"/>
          </a:p>
        </p:txBody>
      </p:sp>
      <p:sp>
        <p:nvSpPr>
          <p:cNvPr id="11" name="Shape 8"/>
          <p:cNvSpPr/>
          <p:nvPr/>
        </p:nvSpPr>
        <p:spPr>
          <a:xfrm>
            <a:off x="9353517" y="4353884"/>
            <a:ext cx="7886734" cy="5305723"/>
          </a:xfrm>
          <a:prstGeom prst="roundRect">
            <a:avLst>
              <a:gd name="adj" fmla="val 2872"/>
            </a:avLst>
          </a:prstGeom>
          <a:ln w="10583">
            <a:solidFill>
              <a:srgbClr val="0F172A">
                <a:alpha val="8000"/>
              </a:srgbClr>
            </a:solidFill>
            <a:prstDash val="solid"/>
          </a:ln>
          <a:effectLst>
            <a:outerShdw sx="100000" sy="100000" kx="0" ky="0" algn="bl" rotWithShape="0" blurRad="533400" dist="228600" dir="5400000">
              <a:srgbClr val="0D1424">
                <a:alpha val="24000"/>
              </a:srgbClr>
            </a:outerShdw>
          </a:effectLst>
        </p:spPr>
      </p:sp>
      <p:pic>
        <p:nvPicPr>
          <p:cNvPr id="12" name="Image 1" descr="preencoded.png">    </p:cNvPr>
          <p:cNvPicPr>
            <a:picLocks noChangeAspect="1"/>
          </p:cNvPicPr>
          <p:nvPr/>
        </p:nvPicPr>
        <p:blipFill>
          <a:blip r:embed="rId2"/>
          <a:stretch>
            <a:fillRect/>
          </a:stretch>
        </p:blipFill>
        <p:spPr>
          <a:xfrm>
            <a:off x="9353517" y="4353884"/>
            <a:ext cx="7886734" cy="530572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424"/>
        </a:solidFill>
      </p:bgPr>
    </p:bg>
    <p:spTree>
      <p:nvGrpSpPr>
        <p:cNvPr id="1" name=""/>
        <p:cNvGrpSpPr/>
        <p:nvPr/>
      </p:nvGrpSpPr>
      <p:grpSpPr>
        <a:xfrm>
          <a:off x="0" y="0"/>
          <a:ext cx="0" cy="0"/>
          <a:chOff x="0" y="0"/>
          <a:chExt cx="0" cy="0"/>
        </a:xfrm>
      </p:grpSpPr>
      <p:sp>
        <p:nvSpPr>
          <p:cNvPr id="2" name="Text 0"/>
          <p:cNvSpPr/>
          <p:nvPr/>
        </p:nvSpPr>
        <p:spPr>
          <a:xfrm>
            <a:off x="1047750" y="3664479"/>
            <a:ext cx="17811751" cy="323850"/>
          </a:xfrm>
          <a:prstGeom prst="rect">
            <a:avLst/>
          </a:prstGeom>
          <a:noFill/>
          <a:ln/>
        </p:spPr>
        <p:txBody>
          <a:bodyPr wrap="square" lIns="25400" tIns="25400" rIns="25400" bIns="25400" rtlCol="0" anchor="t">
            <a:normAutofit/>
          </a:bodyPr>
          <a:lstStyle/>
          <a:p>
            <a:pPr algn="l" indent="0" marL="0">
              <a:buNone/>
            </a:pPr>
            <a:r>
              <a:rPr lang="en-US" sz="2100" b="1" spc="294" kern="0" dirty="0">
                <a:solidFill>
                  <a:srgbClr val="FBB040"/>
                </a:solidFill>
                <a:latin typeface="Archivo" pitchFamily="34" charset="0"/>
                <a:ea typeface="Archivo" pitchFamily="34" charset="-122"/>
                <a:cs typeface="Archivo" pitchFamily="34" charset="-120"/>
              </a:rPr>
              <a:t>PART TWO</a:t>
            </a:r>
            <a:endParaRPr lang="en-US" sz="2100" dirty="0"/>
          </a:p>
        </p:txBody>
      </p:sp>
      <p:sp>
        <p:nvSpPr>
          <p:cNvPr id="3" name="Text 1"/>
          <p:cNvSpPr/>
          <p:nvPr/>
        </p:nvSpPr>
        <p:spPr>
          <a:xfrm>
            <a:off x="1047750" y="4178763"/>
            <a:ext cx="17811751" cy="1251545"/>
          </a:xfrm>
          <a:prstGeom prst="rect">
            <a:avLst/>
          </a:prstGeom>
          <a:noFill/>
          <a:ln/>
        </p:spPr>
        <p:txBody>
          <a:bodyPr wrap="square" lIns="25400" tIns="25400" rIns="25400" bIns="25400" rtlCol="0" anchor="t">
            <a:normAutofit/>
          </a:bodyPr>
          <a:lstStyle/>
          <a:p>
            <a:pPr algn="l" indent="0" marL="0">
              <a:lnSpc>
                <a:spcPct val="89578"/>
              </a:lnSpc>
              <a:buNone/>
            </a:pPr>
            <a:r>
              <a:rPr lang="en-US" sz="9750" b="1" spc="-292" kern="0" dirty="0">
                <a:solidFill>
                  <a:srgbClr val="EAEEF6"/>
                </a:solidFill>
                <a:latin typeface="Archivo" pitchFamily="34" charset="0"/>
                <a:ea typeface="Archivo" pitchFamily="34" charset="-122"/>
                <a:cs typeface="Archivo" pitchFamily="34" charset="-120"/>
              </a:rPr>
              <a:t>Conversion</a:t>
            </a:r>
            <a:endParaRPr lang="en-US" sz="9750" dirty="0"/>
          </a:p>
        </p:txBody>
      </p:sp>
      <p:sp>
        <p:nvSpPr>
          <p:cNvPr id="4" name="Text 2"/>
          <p:cNvSpPr/>
          <p:nvPr/>
        </p:nvSpPr>
        <p:spPr>
          <a:xfrm>
            <a:off x="1047750" y="5715992"/>
            <a:ext cx="9418321" cy="944629"/>
          </a:xfrm>
          <a:prstGeom prst="rect">
            <a:avLst/>
          </a:prstGeom>
          <a:noFill/>
          <a:ln/>
        </p:spPr>
        <p:txBody>
          <a:bodyPr wrap="square" lIns="25400" tIns="25400" rIns="25400" bIns="25400" rtlCol="0" anchor="t">
            <a:normAutofit/>
          </a:bodyPr>
          <a:lstStyle/>
          <a:p>
            <a:pPr algn="l" indent="0" marL="0">
              <a:lnSpc>
                <a:spcPct val="115784"/>
              </a:lnSpc>
              <a:buNone/>
            </a:pPr>
            <a:r>
              <a:rPr lang="en-US" sz="2550" dirty="0">
                <a:solidFill>
                  <a:srgbClr val="9AA6BC"/>
                </a:solidFill>
                <a:latin typeface="Figtree" pitchFamily="34" charset="0"/>
                <a:ea typeface="Figtree" pitchFamily="34" charset="-122"/>
                <a:cs typeface="Figtree" pitchFamily="34" charset="-120"/>
              </a:rPr>
              <a:t>Five moments where a hesitating user needs a reason to keep going.</a:t>
            </a:r>
            <a:endParaRPr lang="en-US" sz="2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1047750" y="2374801"/>
            <a:ext cx="1710697" cy="427302"/>
          </a:xfrm>
          <a:prstGeom prst="roundRect">
            <a:avLst>
              <a:gd name="adj" fmla="val 50000"/>
            </a:avLst>
          </a:prstGeom>
          <a:solidFill>
            <a:srgbClr val="E5484D"/>
          </a:solidFill>
          <a:ln/>
        </p:spPr>
      </p:sp>
      <p:sp>
        <p:nvSpPr>
          <p:cNvPr id="3" name="Text 1"/>
          <p:cNvSpPr/>
          <p:nvPr/>
        </p:nvSpPr>
        <p:spPr>
          <a:xfrm>
            <a:off x="1219200" y="2451001"/>
            <a:ext cx="1443997" cy="313002"/>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Figtree" pitchFamily="34" charset="0"/>
                <a:ea typeface="Figtree" pitchFamily="34" charset="-122"/>
                <a:cs typeface="Figtree" pitchFamily="34" charset="-120"/>
              </a:rPr>
              <a:t>Biggest lever</a:t>
            </a:r>
            <a:endParaRPr lang="en-US" sz="1800" dirty="0"/>
          </a:p>
        </p:txBody>
      </p:sp>
      <p:sp>
        <p:nvSpPr>
          <p:cNvPr id="4" name="Text 2"/>
          <p:cNvSpPr/>
          <p:nvPr/>
        </p:nvSpPr>
        <p:spPr>
          <a:xfrm>
            <a:off x="1047750" y="2992603"/>
            <a:ext cx="12677775" cy="646311"/>
          </a:xfrm>
          <a:prstGeom prst="rect">
            <a:avLst/>
          </a:prstGeom>
          <a:noFill/>
          <a:ln/>
        </p:spPr>
        <p:txBody>
          <a:bodyPr wrap="square" lIns="25400" tIns="25400" rIns="25400" bIns="25400" rtlCol="0" anchor="t">
            <a:normAutofit/>
          </a:bodyPr>
          <a:lstStyle/>
          <a:p>
            <a:pPr algn="l" indent="0" marL="0">
              <a:lnSpc>
                <a:spcPct val="94220"/>
              </a:lnSpc>
              <a:buNone/>
            </a:pPr>
            <a:r>
              <a:rPr lang="en-US" sz="4650" b="1" spc="-93" kern="0" dirty="0">
                <a:solidFill>
                  <a:srgbClr val="0F172A"/>
                </a:solidFill>
                <a:latin typeface="Archivo" pitchFamily="34" charset="0"/>
                <a:ea typeface="Archivo" pitchFamily="34" charset="-122"/>
                <a:cs typeface="Archivo" pitchFamily="34" charset="-120"/>
              </a:rPr>
              <a:t>Put the promise in the flow</a:t>
            </a:r>
            <a:endParaRPr lang="en-US" sz="4650" dirty="0"/>
          </a:p>
        </p:txBody>
      </p:sp>
      <p:sp>
        <p:nvSpPr>
          <p:cNvPr id="5" name="Text 3"/>
          <p:cNvSpPr/>
          <p:nvPr/>
        </p:nvSpPr>
        <p:spPr>
          <a:xfrm>
            <a:off x="1047750" y="3848365"/>
            <a:ext cx="8044816" cy="1810147"/>
          </a:xfrm>
          <a:prstGeom prst="rect">
            <a:avLst/>
          </a:prstGeom>
          <a:noFill/>
          <a:ln/>
        </p:spPr>
        <p:txBody>
          <a:bodyPr wrap="square" lIns="25400" tIns="25400" rIns="25400" bIns="25400" rtlCol="0" anchor="t">
            <a:normAutofit/>
          </a:bodyPr>
          <a:lstStyle/>
          <a:p>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Your whole pitch is </a:t>
            </a:r>
            <a:pPr algn="l" indent="0" marL="0">
              <a:lnSpc>
                <a:spcPct val="123088"/>
              </a:lnSpc>
              <a:buNone/>
            </a:pPr>
            <a:r>
              <a:rPr lang="en-US" sz="2325" b="1" dirty="0">
                <a:solidFill>
                  <a:srgbClr val="43506B"/>
                </a:solidFill>
                <a:latin typeface="Figtree" pitchFamily="34" charset="0"/>
                <a:ea typeface="Figtree" pitchFamily="34" charset="-122"/>
                <a:cs typeface="Figtree" pitchFamily="34" charset="-120"/>
              </a:rPr>
              <a:t>fast, verified, priced upfront </a:t>
            </a:r>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 Yet a user reaches </a:t>
            </a:r>
            <a:pPr algn="l" indent="0" marL="0">
              <a:lnSpc>
                <a:spcPct val="123088"/>
              </a:lnSpc>
              <a:buNone/>
            </a:pPr>
            <a:r>
              <a:rPr lang="en-US" sz="2325" i="1" dirty="0">
                <a:solidFill>
                  <a:srgbClr val="43506B"/>
                </a:solidFill>
                <a:latin typeface="Figtree" pitchFamily="34" charset="0"/>
                <a:ea typeface="Figtree" pitchFamily="34" charset="-122"/>
                <a:cs typeface="Figtree" pitchFamily="34" charset="-120"/>
              </a:rPr>
              <a:t>Find me a tradie </a:t>
            </a:r>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without seeing a single ETA, rate, or how many pros are nearby. You're asking for a blind commit.</a:t>
            </a:r>
            <a:endParaRPr lang="en-US" sz="2325" dirty="0"/>
          </a:p>
        </p:txBody>
      </p:sp>
      <p:sp>
        <p:nvSpPr>
          <p:cNvPr id="6" name="Text 4"/>
          <p:cNvSpPr/>
          <p:nvPr/>
        </p:nvSpPr>
        <p:spPr>
          <a:xfrm>
            <a:off x="1047750" y="5867963"/>
            <a:ext cx="12677775" cy="313267"/>
          </a:xfrm>
          <a:prstGeom prst="rect">
            <a:avLst/>
          </a:prstGeom>
          <a:noFill/>
          <a:ln/>
        </p:spPr>
        <p:txBody>
          <a:bodyPr wrap="square" lIns="25400" tIns="25400" rIns="25400" bIns="25400" rtlCol="0" anchor="t">
            <a:normAutofit/>
          </a:bodyPr>
          <a:lstStyle/>
          <a:p>
            <a:pPr algn="l" indent="0" marL="0">
              <a:buNone/>
            </a:pPr>
            <a:r>
              <a:rPr lang="en-US" sz="1950" b="1" dirty="0">
                <a:solidFill>
                  <a:srgbClr val="0F172A"/>
                </a:solidFill>
                <a:latin typeface="Archivo" pitchFamily="34" charset="0"/>
                <a:ea typeface="Archivo" pitchFamily="34" charset="-122"/>
                <a:cs typeface="Archivo" pitchFamily="34" charset="-120"/>
              </a:rPr>
              <a:t>Do this</a:t>
            </a:r>
            <a:endParaRPr lang="en-US" sz="1950" dirty="0"/>
          </a:p>
        </p:txBody>
      </p:sp>
      <p:sp>
        <p:nvSpPr>
          <p:cNvPr id="7" name="Text 5"/>
          <p:cNvSpPr/>
          <p:nvPr/>
        </p:nvSpPr>
        <p:spPr>
          <a:xfrm>
            <a:off x="1101943" y="6276413"/>
            <a:ext cx="8512602" cy="466064"/>
          </a:xfrm>
          <a:prstGeom prst="rect">
            <a:avLst/>
          </a:prstGeom>
          <a:noFill/>
          <a:ln/>
        </p:spPr>
        <p:txBody>
          <a:bodyPr wrap="square" lIns="25400" tIns="25400" rIns="25400" bIns="25400" rtlCol="0" anchor="t">
            <a:normAutofit/>
          </a:bodyPr>
          <a:lstStyle/>
          <a:p>
            <a:pPr algn="l" marL="193358" indent="-193358">
              <a:lnSpc>
                <a:spcPct val="126422"/>
              </a:lnSpc>
              <a:buSzPct val="100000"/>
              <a:buChar char="•"/>
            </a:pPr>
            <a:r>
              <a:rPr lang="en-US" sz="2175" dirty="0">
                <a:solidFill>
                  <a:srgbClr val="43506B"/>
                </a:solidFill>
                <a:latin typeface="Figtree" pitchFamily="34" charset="0"/>
                <a:ea typeface="Figtree" pitchFamily="34" charset="-122"/>
                <a:cs typeface="Figtree" pitchFamily="34" charset="-120"/>
              </a:rPr>
              <a:t>Show live availability early: </a:t>
            </a:r>
            <a:pPr algn="l" indent="0" marL="0">
              <a:lnSpc>
                <a:spcPct val="126422"/>
              </a:lnSpc>
              <a:buNone/>
            </a:pPr>
            <a:r>
              <a:rPr lang="en-US" sz="2175" i="1" dirty="0">
                <a:solidFill>
                  <a:srgbClr val="43506B"/>
                </a:solidFill>
                <a:latin typeface="Figtree" pitchFamily="34" charset="0"/>
                <a:ea typeface="Figtree" pitchFamily="34" charset="-122"/>
                <a:cs typeface="Figtree" pitchFamily="34" charset="-120"/>
              </a:rPr>
              <a:t>"12 verified plumbers near you."</a:t>
            </a:r>
            <a:endParaRPr lang="en-US" sz="2175" dirty="0"/>
          </a:p>
        </p:txBody>
      </p:sp>
      <p:sp>
        <p:nvSpPr>
          <p:cNvPr id="8" name="Text 6"/>
          <p:cNvSpPr/>
          <p:nvPr/>
        </p:nvSpPr>
        <p:spPr>
          <a:xfrm>
            <a:off x="1101943" y="6704377"/>
            <a:ext cx="7983195" cy="894027"/>
          </a:xfrm>
          <a:prstGeom prst="rect">
            <a:avLst/>
          </a:prstGeom>
          <a:noFill/>
          <a:ln/>
        </p:spPr>
        <p:txBody>
          <a:bodyPr wrap="square" lIns="25400" tIns="25400" rIns="25400" bIns="25400" rtlCol="0" anchor="t">
            <a:normAutofit/>
          </a:bodyPr>
          <a:lstStyle/>
          <a:p>
            <a:pPr algn="l" marL="193358" indent="-193358">
              <a:lnSpc>
                <a:spcPct val="126422"/>
              </a:lnSpc>
              <a:buSzPct val="100000"/>
              <a:buChar char="•"/>
            </a:pPr>
            <a:r>
              <a:rPr lang="en-US" sz="2175" dirty="0">
                <a:solidFill>
                  <a:srgbClr val="43506B"/>
                </a:solidFill>
                <a:latin typeface="Figtree" pitchFamily="34" charset="0"/>
                <a:ea typeface="Figtree" pitchFamily="34" charset="-122"/>
                <a:cs typeface="Figtree" pitchFamily="34" charset="-120"/>
              </a:rPr>
              <a:t>On the final step, preview </a:t>
            </a:r>
            <a:pPr algn="l" indent="0" marL="0">
              <a:lnSpc>
                <a:spcPct val="126422"/>
              </a:lnSpc>
              <a:buNone/>
            </a:pPr>
            <a:r>
              <a:rPr lang="en-US" sz="2175" b="1" dirty="0">
                <a:solidFill>
                  <a:srgbClr val="43506B"/>
                </a:solidFill>
                <a:latin typeface="Figtree" pitchFamily="34" charset="0"/>
                <a:ea typeface="Figtree" pitchFamily="34" charset="-122"/>
                <a:cs typeface="Figtree" pitchFamily="34" charset="-120"/>
              </a:rPr>
              <a:t>~ETA and a from-price </a:t>
            </a:r>
            <a:pPr algn="l" indent="0" marL="0">
              <a:lnSpc>
                <a:spcPct val="126422"/>
              </a:lnSpc>
              <a:buNone/>
            </a:pPr>
            <a:r>
              <a:rPr lang="en-US" sz="2175" dirty="0">
                <a:solidFill>
                  <a:srgbClr val="43506B"/>
                </a:solidFill>
                <a:latin typeface="Figtree" pitchFamily="34" charset="0"/>
                <a:ea typeface="Figtree" pitchFamily="34" charset="-122"/>
                <a:cs typeface="Figtree" pitchFamily="34" charset="-120"/>
              </a:rPr>
              <a:t>before commit.</a:t>
            </a:r>
            <a:endParaRPr lang="en-US" sz="2175" dirty="0"/>
          </a:p>
        </p:txBody>
      </p:sp>
      <p:sp>
        <p:nvSpPr>
          <p:cNvPr id="9" name="Text 7"/>
          <p:cNvSpPr/>
          <p:nvPr/>
        </p:nvSpPr>
        <p:spPr>
          <a:xfrm>
            <a:off x="1101943" y="7560304"/>
            <a:ext cx="8512602" cy="466064"/>
          </a:xfrm>
          <a:prstGeom prst="rect">
            <a:avLst/>
          </a:prstGeom>
          <a:noFill/>
          <a:ln/>
        </p:spPr>
        <p:txBody>
          <a:bodyPr wrap="square" lIns="25400" tIns="25400" rIns="25400" bIns="25400" rtlCol="0" anchor="t">
            <a:normAutofit/>
          </a:bodyPr>
          <a:lstStyle/>
          <a:p>
            <a:pPr algn="l" marL="193358" indent="-193358">
              <a:lnSpc>
                <a:spcPct val="126422"/>
              </a:lnSpc>
              <a:buSzPct val="100000"/>
              <a:buChar char="•"/>
            </a:pPr>
            <a:r>
              <a:rPr lang="en-US" sz="2175" dirty="0">
                <a:solidFill>
                  <a:srgbClr val="43506B"/>
                </a:solidFill>
                <a:latin typeface="Figtree" pitchFamily="34" charset="0"/>
                <a:ea typeface="Figtree" pitchFamily="34" charset="-122"/>
                <a:cs typeface="Figtree" pitchFamily="34" charset="-120"/>
              </a:rPr>
              <a:t>Make the CTA carry it: </a:t>
            </a:r>
            <a:pPr algn="l" indent="0" marL="0">
              <a:lnSpc>
                <a:spcPct val="126422"/>
              </a:lnSpc>
              <a:buNone/>
            </a:pPr>
            <a:r>
              <a:rPr lang="en-US" sz="2175" i="1" dirty="0">
                <a:solidFill>
                  <a:srgbClr val="43506B"/>
                </a:solidFill>
                <a:latin typeface="Figtree" pitchFamily="34" charset="0"/>
                <a:ea typeface="Figtree" pitchFamily="34" charset="-122"/>
                <a:cs typeface="Figtree" pitchFamily="34" charset="-120"/>
              </a:rPr>
              <a:t>"Find me a tradie · ~8 min away."</a:t>
            </a:r>
            <a:endParaRPr lang="en-US" sz="2175" dirty="0"/>
          </a:p>
        </p:txBody>
      </p:sp>
      <p:sp>
        <p:nvSpPr>
          <p:cNvPr id="10" name="Shape 8"/>
          <p:cNvSpPr/>
          <p:nvPr/>
        </p:nvSpPr>
        <p:spPr>
          <a:xfrm>
            <a:off x="13239751" y="2952915"/>
            <a:ext cx="4000500" cy="1864651"/>
          </a:xfrm>
          <a:prstGeom prst="roundRect">
            <a:avLst>
              <a:gd name="adj" fmla="val 11238"/>
            </a:avLst>
          </a:prstGeom>
          <a:solidFill>
            <a:srgbClr val="0D1424"/>
          </a:solidFill>
          <a:ln/>
        </p:spPr>
      </p:sp>
      <p:sp>
        <p:nvSpPr>
          <p:cNvPr id="11" name="Text 9"/>
          <p:cNvSpPr/>
          <p:nvPr/>
        </p:nvSpPr>
        <p:spPr>
          <a:xfrm>
            <a:off x="13582551" y="3276699"/>
            <a:ext cx="3646388" cy="313267"/>
          </a:xfrm>
          <a:prstGeom prst="rect">
            <a:avLst/>
          </a:prstGeom>
          <a:noFill/>
          <a:ln/>
        </p:spPr>
        <p:txBody>
          <a:bodyPr wrap="square" lIns="25400" tIns="25400" rIns="25400" bIns="25400" rtlCol="0" anchor="t">
            <a:normAutofit/>
          </a:bodyPr>
          <a:lstStyle/>
          <a:p>
            <a:pPr algn="l" indent="0" marL="0">
              <a:buNone/>
            </a:pPr>
            <a:r>
              <a:rPr lang="en-US" sz="1800" dirty="0">
                <a:solidFill>
                  <a:srgbClr val="9AA6BC"/>
                </a:solidFill>
                <a:latin typeface="Figtree" pitchFamily="34" charset="0"/>
                <a:ea typeface="Figtree" pitchFamily="34" charset="-122"/>
                <a:cs typeface="Figtree" pitchFamily="34" charset="-120"/>
              </a:rPr>
              <a:t>Nearby now</a:t>
            </a:r>
            <a:endParaRPr lang="en-US" sz="1800" dirty="0"/>
          </a:p>
        </p:txBody>
      </p:sp>
      <p:sp>
        <p:nvSpPr>
          <p:cNvPr id="12" name="Text 10"/>
          <p:cNvSpPr/>
          <p:nvPr/>
        </p:nvSpPr>
        <p:spPr>
          <a:xfrm>
            <a:off x="13582551" y="3647116"/>
            <a:ext cx="3414345" cy="884767"/>
          </a:xfrm>
          <a:prstGeom prst="rect">
            <a:avLst/>
          </a:prstGeom>
          <a:noFill/>
          <a:ln/>
        </p:spPr>
        <p:txBody>
          <a:bodyPr wrap="square" lIns="25400" tIns="25400" rIns="25400" bIns="25400" rtlCol="0" anchor="t">
            <a:normAutofit/>
          </a:bodyPr>
          <a:lstStyle/>
          <a:p>
            <a:pPr algn="l" indent="0" marL="0">
              <a:buNone/>
            </a:pPr>
            <a:r>
              <a:rPr lang="en-US" sz="3000" b="1" dirty="0">
                <a:solidFill>
                  <a:srgbClr val="FFFFFF"/>
                </a:solidFill>
                <a:latin typeface="Archivo" pitchFamily="34" charset="0"/>
                <a:ea typeface="Archivo" pitchFamily="34" charset="-122"/>
                <a:cs typeface="Archivo" pitchFamily="34" charset="-120"/>
              </a:rPr>
              <a:t>12 verified plumbers</a:t>
            </a:r>
            <a:endParaRPr lang="en-US" sz="3000" dirty="0"/>
          </a:p>
        </p:txBody>
      </p:sp>
      <p:sp>
        <p:nvSpPr>
          <p:cNvPr id="13" name="Shape 11"/>
          <p:cNvSpPr/>
          <p:nvPr/>
        </p:nvSpPr>
        <p:spPr>
          <a:xfrm>
            <a:off x="13239751" y="5027084"/>
            <a:ext cx="4000500" cy="1398984"/>
          </a:xfrm>
          <a:prstGeom prst="roundRect">
            <a:avLst>
              <a:gd name="adj" fmla="val 14979"/>
            </a:avLst>
          </a:prstGeom>
          <a:solidFill>
            <a:srgbClr val="FFFFFF"/>
          </a:solidFill>
          <a:ln w="10583">
            <a:solidFill>
              <a:srgbClr val="0F172A">
                <a:alpha val="6000"/>
              </a:srgbClr>
            </a:solidFill>
            <a:prstDash val="solid"/>
          </a:ln>
          <a:effectLst>
            <a:outerShdw sx="100000" sy="100000" kx="0" ky="0" algn="bl" rotWithShape="0" blurRad="457200" dist="190500" dir="5400000">
              <a:srgbClr val="0D1424">
                <a:alpha val="12000"/>
              </a:srgbClr>
            </a:outerShdw>
          </a:effectLst>
        </p:spPr>
      </p:sp>
      <p:sp>
        <p:nvSpPr>
          <p:cNvPr id="14" name="Text 12"/>
          <p:cNvSpPr/>
          <p:nvPr/>
        </p:nvSpPr>
        <p:spPr>
          <a:xfrm>
            <a:off x="13593134" y="5361451"/>
            <a:ext cx="1610006" cy="313267"/>
          </a:xfrm>
          <a:prstGeom prst="rect">
            <a:avLst/>
          </a:prstGeom>
          <a:noFill/>
          <a:ln/>
        </p:spPr>
        <p:txBody>
          <a:bodyPr wrap="square" lIns="25400" tIns="25400" rIns="25400" bIns="25400" rtlCol="0" anchor="t">
            <a:normAutofit/>
          </a:bodyPr>
          <a:lstStyle/>
          <a:p>
            <a:pPr algn="l" indent="0" marL="0">
              <a:buNone/>
            </a:pPr>
            <a:r>
              <a:rPr lang="en-US" sz="1800" dirty="0">
                <a:solidFill>
                  <a:srgbClr val="5B6B85"/>
                </a:solidFill>
                <a:latin typeface="Figtree" pitchFamily="34" charset="0"/>
                <a:ea typeface="Figtree" pitchFamily="34" charset="-122"/>
                <a:cs typeface="Figtree" pitchFamily="34" charset="-120"/>
              </a:rPr>
              <a:t>Arrives in</a:t>
            </a:r>
            <a:endParaRPr lang="en-US" sz="1800" dirty="0"/>
          </a:p>
        </p:txBody>
      </p:sp>
      <p:sp>
        <p:nvSpPr>
          <p:cNvPr id="15" name="Text 13"/>
          <p:cNvSpPr/>
          <p:nvPr/>
        </p:nvSpPr>
        <p:spPr>
          <a:xfrm>
            <a:off x="13593134" y="5636618"/>
            <a:ext cx="1610006" cy="493183"/>
          </a:xfrm>
          <a:prstGeom prst="rect">
            <a:avLst/>
          </a:prstGeom>
          <a:noFill/>
          <a:ln/>
        </p:spPr>
        <p:txBody>
          <a:bodyPr wrap="square" lIns="25400" tIns="25400" rIns="25400" bIns="25400" rtlCol="0" anchor="t">
            <a:normAutofit/>
          </a:bodyPr>
          <a:lstStyle/>
          <a:p>
            <a:pPr algn="l" indent="0" marL="0">
              <a:buNone/>
            </a:pPr>
            <a:r>
              <a:rPr lang="en-US" sz="3300" b="1" dirty="0">
                <a:solidFill>
                  <a:srgbClr val="0F172A"/>
                </a:solidFill>
                <a:latin typeface="Archivo" pitchFamily="34" charset="0"/>
                <a:ea typeface="Archivo" pitchFamily="34" charset="-122"/>
                <a:cs typeface="Archivo" pitchFamily="34" charset="-120"/>
              </a:rPr>
              <a:t>~8 min</a:t>
            </a:r>
            <a:endParaRPr lang="en-US" sz="3300" dirty="0"/>
          </a:p>
        </p:txBody>
      </p:sp>
      <p:sp>
        <p:nvSpPr>
          <p:cNvPr id="16" name="Text 14"/>
          <p:cNvSpPr/>
          <p:nvPr/>
        </p:nvSpPr>
        <p:spPr>
          <a:xfrm>
            <a:off x="15381454" y="5361451"/>
            <a:ext cx="1505413" cy="313267"/>
          </a:xfrm>
          <a:prstGeom prst="rect">
            <a:avLst/>
          </a:prstGeom>
          <a:noFill/>
          <a:ln/>
        </p:spPr>
        <p:txBody>
          <a:bodyPr wrap="square" lIns="25400" tIns="25400" rIns="25400" bIns="25400" rtlCol="0" anchor="t">
            <a:normAutofit/>
          </a:bodyPr>
          <a:lstStyle/>
          <a:p>
            <a:pPr algn="r" indent="0" marL="0">
              <a:buNone/>
            </a:pPr>
            <a:r>
              <a:rPr lang="en-US" sz="1800" dirty="0">
                <a:solidFill>
                  <a:srgbClr val="5B6B85"/>
                </a:solidFill>
                <a:latin typeface="Figtree" pitchFamily="34" charset="0"/>
                <a:ea typeface="Figtree" pitchFamily="34" charset="-122"/>
                <a:cs typeface="Figtree" pitchFamily="34" charset="-120"/>
              </a:rPr>
              <a:t>Call-out from</a:t>
            </a:r>
            <a:endParaRPr lang="en-US" sz="1800" dirty="0"/>
          </a:p>
        </p:txBody>
      </p:sp>
      <p:sp>
        <p:nvSpPr>
          <p:cNvPr id="17" name="Text 15"/>
          <p:cNvSpPr/>
          <p:nvPr/>
        </p:nvSpPr>
        <p:spPr>
          <a:xfrm>
            <a:off x="15381454" y="5636618"/>
            <a:ext cx="1505413" cy="493183"/>
          </a:xfrm>
          <a:prstGeom prst="rect">
            <a:avLst/>
          </a:prstGeom>
          <a:noFill/>
          <a:ln/>
        </p:spPr>
        <p:txBody>
          <a:bodyPr wrap="square" lIns="25400" tIns="25400" rIns="25400" bIns="25400" rtlCol="0" anchor="t">
            <a:normAutofit/>
          </a:bodyPr>
          <a:lstStyle/>
          <a:p>
            <a:pPr algn="r" indent="0" marL="0">
              <a:buNone/>
            </a:pPr>
            <a:r>
              <a:rPr lang="en-US" sz="3300" b="1" dirty="0">
                <a:solidFill>
                  <a:srgbClr val="0F172A"/>
                </a:solidFill>
                <a:latin typeface="Archivo" pitchFamily="34" charset="0"/>
                <a:ea typeface="Archivo" pitchFamily="34" charset="-122"/>
                <a:cs typeface="Archivo" pitchFamily="34" charset="-120"/>
              </a:rPr>
              <a:t>$89</a:t>
            </a:r>
            <a:endParaRPr lang="en-US" sz="3300" dirty="0"/>
          </a:p>
        </p:txBody>
      </p:sp>
      <p:sp>
        <p:nvSpPr>
          <p:cNvPr id="18" name="Shape 16"/>
          <p:cNvSpPr/>
          <p:nvPr/>
        </p:nvSpPr>
        <p:spPr>
          <a:xfrm>
            <a:off x="13239751" y="6635585"/>
            <a:ext cx="4000500" cy="774568"/>
          </a:xfrm>
          <a:prstGeom prst="roundRect">
            <a:avLst>
              <a:gd name="adj" fmla="val 19675"/>
            </a:avLst>
          </a:prstGeom>
          <a:solidFill>
            <a:srgbClr val="FBB040"/>
          </a:solidFill>
          <a:ln/>
        </p:spPr>
      </p:sp>
      <p:sp>
        <p:nvSpPr>
          <p:cNvPr id="19" name="Text 17"/>
          <p:cNvSpPr/>
          <p:nvPr/>
        </p:nvSpPr>
        <p:spPr>
          <a:xfrm>
            <a:off x="13408344" y="6864185"/>
            <a:ext cx="3663315" cy="355468"/>
          </a:xfrm>
          <a:prstGeom prst="rect">
            <a:avLst/>
          </a:prstGeom>
          <a:noFill/>
          <a:ln/>
        </p:spPr>
        <p:txBody>
          <a:bodyPr wrap="square" lIns="25400" tIns="25400" rIns="25400" bIns="25400" rtlCol="0" anchor="t">
            <a:normAutofit/>
          </a:bodyPr>
          <a:lstStyle/>
          <a:p>
            <a:pPr algn="ctr" indent="0" marL="0">
              <a:buNone/>
            </a:pPr>
            <a:r>
              <a:rPr lang="en-US" sz="2250" b="1" dirty="0">
                <a:solidFill>
                  <a:srgbClr val="0D1424"/>
                </a:solidFill>
                <a:latin typeface="Archivo" pitchFamily="34" charset="0"/>
                <a:ea typeface="Archivo" pitchFamily="34" charset="-122"/>
                <a:cs typeface="Archivo" pitchFamily="34" charset="-120"/>
              </a:rPr>
              <a:t>Find me a tradie · ~8 min</a:t>
            </a:r>
            <a:endParaRPr lang="en-US" sz="2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1143000" y="1895740"/>
            <a:ext cx="3048000" cy="6571423"/>
          </a:xfrm>
          <a:prstGeom prst="roundRect">
            <a:avLst>
              <a:gd name="adj" fmla="val 9375"/>
            </a:avLst>
          </a:prstGeom>
          <a:ln w="10583">
            <a:solidFill>
              <a:srgbClr val="0F172A">
                <a:alpha val="8000"/>
              </a:srgbClr>
            </a:solidFill>
            <a:prstDash val="solid"/>
          </a:ln>
          <a:effectLst>
            <a:outerShdw sx="100000" sy="100000" kx="0" ky="0" algn="bl" rotWithShape="0" blurRad="666750" dist="285750" dir="5400000">
              <a:srgbClr val="0D1424">
                <a:alpha val="28000"/>
              </a:srgbClr>
            </a:outerShdw>
          </a:effectLst>
        </p:spPr>
      </p:sp>
      <p:pic>
        <p:nvPicPr>
          <p:cNvPr id="3" name="Image 0" descr="preencoded.png">    </p:cNvPr>
          <p:cNvPicPr>
            <a:picLocks noChangeAspect="1"/>
          </p:cNvPicPr>
          <p:nvPr/>
        </p:nvPicPr>
        <p:blipFill>
          <a:blip r:embed="rId1"/>
          <a:stretch>
            <a:fillRect/>
          </a:stretch>
        </p:blipFill>
        <p:spPr>
          <a:xfrm>
            <a:off x="1143000" y="1895740"/>
            <a:ext cx="3048000" cy="6571423"/>
          </a:xfrm>
          <a:prstGeom prst="rect">
            <a:avLst/>
          </a:prstGeom>
        </p:spPr>
      </p:pic>
      <p:sp>
        <p:nvSpPr>
          <p:cNvPr id="4" name="Shape 1"/>
          <p:cNvSpPr/>
          <p:nvPr/>
        </p:nvSpPr>
        <p:spPr>
          <a:xfrm>
            <a:off x="4953000" y="2141637"/>
            <a:ext cx="1630660" cy="427302"/>
          </a:xfrm>
          <a:prstGeom prst="roundRect">
            <a:avLst>
              <a:gd name="adj" fmla="val 50000"/>
            </a:avLst>
          </a:prstGeom>
          <a:solidFill>
            <a:srgbClr val="0D1424"/>
          </a:solidFill>
          <a:ln/>
        </p:spPr>
      </p:sp>
      <p:sp>
        <p:nvSpPr>
          <p:cNvPr id="5" name="Text 2"/>
          <p:cNvSpPr/>
          <p:nvPr/>
        </p:nvSpPr>
        <p:spPr>
          <a:xfrm>
            <a:off x="5124450" y="2217837"/>
            <a:ext cx="1363960" cy="313002"/>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Figtree" pitchFamily="34" charset="0"/>
                <a:ea typeface="Figtree" pitchFamily="34" charset="-122"/>
                <a:cs typeface="Figtree" pitchFamily="34" charset="-120"/>
              </a:rPr>
              <a:t>High impact</a:t>
            </a:r>
            <a:endParaRPr lang="en-US" sz="1800" dirty="0"/>
          </a:p>
        </p:txBody>
      </p:sp>
      <p:sp>
        <p:nvSpPr>
          <p:cNvPr id="6" name="Text 3"/>
          <p:cNvSpPr/>
          <p:nvPr/>
        </p:nvSpPr>
        <p:spPr>
          <a:xfrm>
            <a:off x="4953000" y="2759439"/>
            <a:ext cx="13515976" cy="646311"/>
          </a:xfrm>
          <a:prstGeom prst="rect">
            <a:avLst/>
          </a:prstGeom>
          <a:noFill/>
          <a:ln/>
        </p:spPr>
        <p:txBody>
          <a:bodyPr wrap="square" lIns="25400" tIns="25400" rIns="25400" bIns="25400" rtlCol="0" anchor="t">
            <a:normAutofit/>
          </a:bodyPr>
          <a:lstStyle/>
          <a:p>
            <a:pPr algn="l" indent="0" marL="0">
              <a:lnSpc>
                <a:spcPct val="94220"/>
              </a:lnSpc>
              <a:buNone/>
            </a:pPr>
            <a:r>
              <a:rPr lang="en-US" sz="4650" b="1" spc="-93" kern="0" dirty="0">
                <a:solidFill>
                  <a:srgbClr val="0F172A"/>
                </a:solidFill>
                <a:latin typeface="Archivo" pitchFamily="34" charset="0"/>
                <a:ea typeface="Archivo" pitchFamily="34" charset="-122"/>
                <a:cs typeface="Archivo" pitchFamily="34" charset="-120"/>
              </a:rPr>
              <a:t>Lower the bar to get in</a:t>
            </a:r>
            <a:endParaRPr lang="en-US" sz="4650" dirty="0"/>
          </a:p>
        </p:txBody>
      </p:sp>
      <p:sp>
        <p:nvSpPr>
          <p:cNvPr id="7" name="Text 4"/>
          <p:cNvSpPr/>
          <p:nvPr/>
        </p:nvSpPr>
        <p:spPr>
          <a:xfrm>
            <a:off x="4953000" y="3615201"/>
            <a:ext cx="8044816" cy="1810147"/>
          </a:xfrm>
          <a:prstGeom prst="rect">
            <a:avLst/>
          </a:prstGeom>
          <a:noFill/>
          <a:ln/>
        </p:spPr>
        <p:txBody>
          <a:bodyPr wrap="square" lIns="25400" tIns="25400" rIns="25400" bIns="25400" rtlCol="0" anchor="t">
            <a:normAutofit/>
          </a:bodyPr>
          <a:lstStyle/>
          <a:p>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An urgent "my tap is flooding" user hits a cold email-and-password wall. The demo accounts are a nice touch, but real first-timers face maximum friction at the worst moment.</a:t>
            </a:r>
            <a:endParaRPr lang="en-US" sz="2325" dirty="0"/>
          </a:p>
        </p:txBody>
      </p:sp>
      <p:sp>
        <p:nvSpPr>
          <p:cNvPr id="8" name="Text 5"/>
          <p:cNvSpPr/>
          <p:nvPr/>
        </p:nvSpPr>
        <p:spPr>
          <a:xfrm>
            <a:off x="4953000" y="5672998"/>
            <a:ext cx="13515976" cy="313267"/>
          </a:xfrm>
          <a:prstGeom prst="rect">
            <a:avLst/>
          </a:prstGeom>
          <a:noFill/>
          <a:ln/>
        </p:spPr>
        <p:txBody>
          <a:bodyPr wrap="square" lIns="25400" tIns="25400" rIns="25400" bIns="25400" rtlCol="0" anchor="t">
            <a:normAutofit/>
          </a:bodyPr>
          <a:lstStyle/>
          <a:p>
            <a:pPr algn="l" indent="0" marL="0">
              <a:buNone/>
            </a:pPr>
            <a:r>
              <a:rPr lang="en-US" sz="1950" b="1" dirty="0">
                <a:solidFill>
                  <a:srgbClr val="0F172A"/>
                </a:solidFill>
                <a:latin typeface="Archivo" pitchFamily="34" charset="0"/>
                <a:ea typeface="Archivo" pitchFamily="34" charset="-122"/>
                <a:cs typeface="Archivo" pitchFamily="34" charset="-120"/>
              </a:rPr>
              <a:t>Do this</a:t>
            </a:r>
            <a:endParaRPr lang="en-US" sz="1950" dirty="0"/>
          </a:p>
        </p:txBody>
      </p:sp>
      <p:sp>
        <p:nvSpPr>
          <p:cNvPr id="9" name="Text 6"/>
          <p:cNvSpPr/>
          <p:nvPr/>
        </p:nvSpPr>
        <p:spPr>
          <a:xfrm>
            <a:off x="5007194" y="6081448"/>
            <a:ext cx="7983195" cy="894027"/>
          </a:xfrm>
          <a:prstGeom prst="rect">
            <a:avLst/>
          </a:prstGeom>
          <a:noFill/>
          <a:ln/>
        </p:spPr>
        <p:txBody>
          <a:bodyPr wrap="square" lIns="25400" tIns="25400" rIns="25400" bIns="25400" rtlCol="0" anchor="t">
            <a:normAutofit/>
          </a:bodyPr>
          <a:lstStyle/>
          <a:p>
            <a:pPr algn="l" marL="193358" indent="-193358">
              <a:lnSpc>
                <a:spcPct val="126422"/>
              </a:lnSpc>
              <a:buSzPct val="100000"/>
              <a:buChar char="•"/>
            </a:pPr>
            <a:r>
              <a:rPr lang="en-US" sz="2175" dirty="0">
                <a:solidFill>
                  <a:srgbClr val="43506B"/>
                </a:solidFill>
                <a:latin typeface="Figtree" pitchFamily="34" charset="0"/>
                <a:ea typeface="Figtree" pitchFamily="34" charset="-122"/>
                <a:cs typeface="Figtree" pitchFamily="34" charset="-120"/>
              </a:rPr>
              <a:t>Add </a:t>
            </a:r>
            <a:pPr algn="l" indent="0" marL="0">
              <a:lnSpc>
                <a:spcPct val="126422"/>
              </a:lnSpc>
              <a:buNone/>
            </a:pPr>
            <a:r>
              <a:rPr lang="en-US" sz="2175" b="1" dirty="0">
                <a:solidFill>
                  <a:srgbClr val="43506B"/>
                </a:solidFill>
                <a:latin typeface="Figtree" pitchFamily="34" charset="0"/>
                <a:ea typeface="Figtree" pitchFamily="34" charset="-122"/>
                <a:cs typeface="Figtree" pitchFamily="34" charset="-120"/>
              </a:rPr>
              <a:t>phone-number OTP </a:t>
            </a:r>
            <a:pPr algn="l" indent="0" marL="0">
              <a:lnSpc>
                <a:spcPct val="126422"/>
              </a:lnSpc>
              <a:buNone/>
            </a:pPr>
            <a:r>
              <a:rPr lang="en-US" sz="2175" dirty="0">
                <a:solidFill>
                  <a:srgbClr val="43506B"/>
                </a:solidFill>
                <a:latin typeface="Figtree" pitchFamily="34" charset="0"/>
                <a:ea typeface="Figtree" pitchFamily="34" charset="-122"/>
                <a:cs typeface="Figtree" pitchFamily="34" charset="-120"/>
              </a:rPr>
              <a:t>— the NZ consumer default, one tap on Android.</a:t>
            </a:r>
            <a:endParaRPr lang="en-US" sz="2175" dirty="0"/>
          </a:p>
        </p:txBody>
      </p:sp>
      <p:sp>
        <p:nvSpPr>
          <p:cNvPr id="10" name="Text 7"/>
          <p:cNvSpPr/>
          <p:nvPr/>
        </p:nvSpPr>
        <p:spPr>
          <a:xfrm>
            <a:off x="5007194" y="6937375"/>
            <a:ext cx="7983195" cy="894027"/>
          </a:xfrm>
          <a:prstGeom prst="rect">
            <a:avLst/>
          </a:prstGeom>
          <a:noFill/>
          <a:ln/>
        </p:spPr>
        <p:txBody>
          <a:bodyPr wrap="square" lIns="25400" tIns="25400" rIns="25400" bIns="25400" rtlCol="0" anchor="t">
            <a:normAutofit/>
          </a:bodyPr>
          <a:lstStyle/>
          <a:p>
            <a:pPr algn="l" marL="193358" indent="-193358">
              <a:lnSpc>
                <a:spcPct val="126422"/>
              </a:lnSpc>
              <a:buSzPct val="100000"/>
              <a:buChar char="•"/>
            </a:pPr>
            <a:r>
              <a:rPr lang="en-US" sz="2175" dirty="0">
                <a:solidFill>
                  <a:srgbClr val="43506B"/>
                </a:solidFill>
                <a:latin typeface="Figtree" pitchFamily="34" charset="0"/>
                <a:ea typeface="Figtree" pitchFamily="34" charset="-122"/>
                <a:cs typeface="Figtree" pitchFamily="34" charset="-120"/>
              </a:rPr>
              <a:t>Let users </a:t>
            </a:r>
            <a:pPr algn="l" indent="0" marL="0">
              <a:lnSpc>
                <a:spcPct val="126422"/>
              </a:lnSpc>
              <a:buNone/>
            </a:pPr>
            <a:r>
              <a:rPr lang="en-US" sz="2175" b="1" dirty="0">
                <a:solidFill>
                  <a:srgbClr val="43506B"/>
                </a:solidFill>
                <a:latin typeface="Figtree" pitchFamily="34" charset="0"/>
                <a:ea typeface="Figtree" pitchFamily="34" charset="-122"/>
                <a:cs typeface="Figtree" pitchFamily="34" charset="-120"/>
              </a:rPr>
              <a:t>describe the job first </a:t>
            </a:r>
            <a:pPr algn="l" indent="0" marL="0">
              <a:lnSpc>
                <a:spcPct val="126422"/>
              </a:lnSpc>
              <a:buNone/>
            </a:pPr>
            <a:r>
              <a:rPr lang="en-US" sz="2175" dirty="0">
                <a:solidFill>
                  <a:srgbClr val="43506B"/>
                </a:solidFill>
                <a:latin typeface="Figtree" pitchFamily="34" charset="0"/>
                <a:ea typeface="Figtree" pitchFamily="34" charset="-122"/>
                <a:cs typeface="Figtree" pitchFamily="34" charset="-120"/>
              </a:rPr>
              <a:t>, create the account only once they've seen matches.</a:t>
            </a:r>
            <a:endParaRPr lang="en-US" sz="2175" dirty="0"/>
          </a:p>
        </p:txBody>
      </p:sp>
      <p:sp>
        <p:nvSpPr>
          <p:cNvPr id="11" name="Text 8"/>
          <p:cNvSpPr/>
          <p:nvPr/>
        </p:nvSpPr>
        <p:spPr>
          <a:xfrm>
            <a:off x="5007194" y="7793302"/>
            <a:ext cx="8512602" cy="466064"/>
          </a:xfrm>
          <a:prstGeom prst="rect">
            <a:avLst/>
          </a:prstGeom>
          <a:noFill/>
          <a:ln/>
        </p:spPr>
        <p:txBody>
          <a:bodyPr wrap="square" lIns="25400" tIns="25400" rIns="25400" bIns="25400" rtlCol="0" anchor="t">
            <a:normAutofit/>
          </a:bodyPr>
          <a:lstStyle/>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Keep password as a fallback, not the front door.</a:t>
            </a:r>
            <a:endParaRPr lang="en-US" sz="21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1047750" y="1927655"/>
            <a:ext cx="1630660" cy="427302"/>
          </a:xfrm>
          <a:prstGeom prst="roundRect">
            <a:avLst>
              <a:gd name="adj" fmla="val 50000"/>
            </a:avLst>
          </a:prstGeom>
          <a:solidFill>
            <a:srgbClr val="5B6B85"/>
          </a:solidFill>
          <a:ln/>
        </p:spPr>
      </p:sp>
      <p:sp>
        <p:nvSpPr>
          <p:cNvPr id="3" name="Text 1"/>
          <p:cNvSpPr/>
          <p:nvPr/>
        </p:nvSpPr>
        <p:spPr>
          <a:xfrm>
            <a:off x="1219200" y="2003855"/>
            <a:ext cx="1363960" cy="313002"/>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Figtree" pitchFamily="34" charset="0"/>
                <a:ea typeface="Figtree" pitchFamily="34" charset="-122"/>
                <a:cs typeface="Figtree" pitchFamily="34" charset="-120"/>
              </a:rPr>
              <a:t>High impact</a:t>
            </a:r>
            <a:endParaRPr lang="en-US" sz="1800" dirty="0"/>
          </a:p>
        </p:txBody>
      </p:sp>
      <p:sp>
        <p:nvSpPr>
          <p:cNvPr id="4" name="Text 2"/>
          <p:cNvSpPr/>
          <p:nvPr/>
        </p:nvSpPr>
        <p:spPr>
          <a:xfrm>
            <a:off x="1047750" y="2545457"/>
            <a:ext cx="13515976" cy="646311"/>
          </a:xfrm>
          <a:prstGeom prst="rect">
            <a:avLst/>
          </a:prstGeom>
          <a:noFill/>
          <a:ln/>
        </p:spPr>
        <p:txBody>
          <a:bodyPr wrap="square" lIns="25400" tIns="25400" rIns="25400" bIns="25400" rtlCol="0" anchor="t">
            <a:normAutofit/>
          </a:bodyPr>
          <a:lstStyle/>
          <a:p>
            <a:pPr algn="l" indent="0" marL="0">
              <a:lnSpc>
                <a:spcPct val="94220"/>
              </a:lnSpc>
              <a:buNone/>
            </a:pPr>
            <a:r>
              <a:rPr lang="en-US" sz="4650" b="1" spc="-93" kern="0" dirty="0">
                <a:solidFill>
                  <a:srgbClr val="0F172A"/>
                </a:solidFill>
                <a:latin typeface="Archivo" pitchFamily="34" charset="0"/>
                <a:ea typeface="Archivo" pitchFamily="34" charset="-122"/>
                <a:cs typeface="Archivo" pitchFamily="34" charset="-120"/>
              </a:rPr>
              <a:t>Carry trust through the request</a:t>
            </a:r>
            <a:endParaRPr lang="en-US" sz="4650" dirty="0"/>
          </a:p>
        </p:txBody>
      </p:sp>
      <p:sp>
        <p:nvSpPr>
          <p:cNvPr id="5" name="Text 3"/>
          <p:cNvSpPr/>
          <p:nvPr/>
        </p:nvSpPr>
        <p:spPr>
          <a:xfrm>
            <a:off x="1047750" y="3401219"/>
            <a:ext cx="8044816" cy="1810147"/>
          </a:xfrm>
          <a:prstGeom prst="rect">
            <a:avLst/>
          </a:prstGeom>
          <a:noFill/>
          <a:ln/>
        </p:spPr>
        <p:txBody>
          <a:bodyPr wrap="square" lIns="25400" tIns="25400" rIns="25400" bIns="25400" rtlCol="0" anchor="t">
            <a:normAutofit/>
          </a:bodyPr>
          <a:lstStyle/>
          <a:p>
            <a:pPr algn="l" indent="0" marL="0">
              <a:lnSpc>
                <a:spcPct val="123088"/>
              </a:lnSpc>
              <a:buNone/>
            </a:pPr>
            <a:r>
              <a:rPr lang="en-US" sz="2325" i="1" dirty="0">
                <a:solidFill>
                  <a:srgbClr val="43506B"/>
                </a:solidFill>
                <a:latin typeface="Figtree" pitchFamily="34" charset="0"/>
                <a:ea typeface="Figtree" pitchFamily="34" charset="-122"/>
                <a:cs typeface="Figtree" pitchFamily="34" charset="-120"/>
              </a:rPr>
              <a:t>Verified pros · Rated &amp; trusted </a:t>
            </a:r>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lives on the welcome screen — then vanishes for all four steps where the user is deciding to let a stranger into their home. Trust needs reinforcing exactly there.</a:t>
            </a:r>
            <a:endParaRPr lang="en-US" sz="2325" dirty="0"/>
          </a:p>
        </p:txBody>
      </p:sp>
      <p:sp>
        <p:nvSpPr>
          <p:cNvPr id="6" name="Text 4"/>
          <p:cNvSpPr/>
          <p:nvPr/>
        </p:nvSpPr>
        <p:spPr>
          <a:xfrm>
            <a:off x="1047750" y="5459016"/>
            <a:ext cx="13515976" cy="313267"/>
          </a:xfrm>
          <a:prstGeom prst="rect">
            <a:avLst/>
          </a:prstGeom>
          <a:noFill/>
          <a:ln/>
        </p:spPr>
        <p:txBody>
          <a:bodyPr wrap="square" lIns="25400" tIns="25400" rIns="25400" bIns="25400" rtlCol="0" anchor="t">
            <a:normAutofit/>
          </a:bodyPr>
          <a:lstStyle/>
          <a:p>
            <a:pPr algn="l" indent="0" marL="0">
              <a:buNone/>
            </a:pPr>
            <a:r>
              <a:rPr lang="en-US" sz="1950" b="1" dirty="0">
                <a:solidFill>
                  <a:srgbClr val="0F172A"/>
                </a:solidFill>
                <a:latin typeface="Archivo" pitchFamily="34" charset="0"/>
                <a:ea typeface="Archivo" pitchFamily="34" charset="-122"/>
                <a:cs typeface="Archivo" pitchFamily="34" charset="-120"/>
              </a:rPr>
              <a:t>Do this</a:t>
            </a:r>
            <a:endParaRPr lang="en-US" sz="1950" dirty="0"/>
          </a:p>
        </p:txBody>
      </p:sp>
      <p:sp>
        <p:nvSpPr>
          <p:cNvPr id="7" name="Text 5"/>
          <p:cNvSpPr/>
          <p:nvPr/>
        </p:nvSpPr>
        <p:spPr>
          <a:xfrm>
            <a:off x="1101943" y="5867466"/>
            <a:ext cx="7983195" cy="894027"/>
          </a:xfrm>
          <a:prstGeom prst="rect">
            <a:avLst/>
          </a:prstGeom>
          <a:noFill/>
          <a:ln/>
        </p:spPr>
        <p:txBody>
          <a:bodyPr wrap="square" lIns="25400" tIns="25400" rIns="25400" bIns="25400" rtlCol="0" anchor="t">
            <a:normAutofit/>
          </a:bodyPr>
          <a:lstStyle/>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Show a licence / verified badge and rating on every matched tradie.</a:t>
            </a:r>
            <a:endParaRPr lang="en-US" sz="2175" dirty="0"/>
          </a:p>
        </p:txBody>
      </p:sp>
      <p:sp>
        <p:nvSpPr>
          <p:cNvPr id="8" name="Text 6"/>
          <p:cNvSpPr/>
          <p:nvPr/>
        </p:nvSpPr>
        <p:spPr>
          <a:xfrm>
            <a:off x="1101943" y="6723394"/>
            <a:ext cx="7983195" cy="894027"/>
          </a:xfrm>
          <a:prstGeom prst="rect">
            <a:avLst/>
          </a:prstGeom>
          <a:noFill/>
          <a:ln/>
        </p:spPr>
        <p:txBody>
          <a:bodyPr wrap="square" lIns="25400" tIns="25400" rIns="25400" bIns="25400" rtlCol="0" anchor="t">
            <a:normAutofit/>
          </a:bodyPr>
          <a:lstStyle/>
          <a:p>
            <a:pPr algn="l" marL="193358" indent="-193358">
              <a:lnSpc>
                <a:spcPct val="126422"/>
              </a:lnSpc>
              <a:buSzPct val="100000"/>
              <a:buChar char="•"/>
            </a:pPr>
            <a:r>
              <a:rPr lang="en-US" sz="2175" dirty="0">
                <a:solidFill>
                  <a:srgbClr val="43506B"/>
                </a:solidFill>
                <a:latin typeface="Figtree" pitchFamily="34" charset="0"/>
                <a:ea typeface="Figtree" pitchFamily="34" charset="-122"/>
                <a:cs typeface="Figtree" pitchFamily="34" charset="-120"/>
              </a:rPr>
              <a:t>On </a:t>
            </a:r>
            <a:pPr algn="l" indent="0" marL="0">
              <a:lnSpc>
                <a:spcPct val="126422"/>
              </a:lnSpc>
              <a:buNone/>
            </a:pPr>
            <a:r>
              <a:rPr lang="en-US" sz="2175" i="1" dirty="0">
                <a:solidFill>
                  <a:srgbClr val="43506B"/>
                </a:solidFill>
                <a:latin typeface="Figtree" pitchFamily="34" charset="0"/>
                <a:ea typeface="Figtree" pitchFamily="34" charset="-122"/>
                <a:cs typeface="Figtree" pitchFamily="34" charset="-120"/>
              </a:rPr>
              <a:t>Browse &amp; choose </a:t>
            </a:r>
            <a:pPr algn="l" indent="0" marL="0">
              <a:lnSpc>
                <a:spcPct val="126422"/>
              </a:lnSpc>
              <a:buNone/>
            </a:pPr>
            <a:r>
              <a:rPr lang="en-US" sz="2175" dirty="0">
                <a:solidFill>
                  <a:srgbClr val="43506B"/>
                </a:solidFill>
                <a:latin typeface="Figtree" pitchFamily="34" charset="0"/>
                <a:ea typeface="Figtree" pitchFamily="34" charset="-122"/>
                <a:cs typeface="Figtree" pitchFamily="34" charset="-120"/>
              </a:rPr>
              <a:t>, lead with rating and jobs completed, not just rate.</a:t>
            </a:r>
            <a:endParaRPr lang="en-US" sz="2175" dirty="0"/>
          </a:p>
        </p:txBody>
      </p:sp>
      <p:sp>
        <p:nvSpPr>
          <p:cNvPr id="9" name="Text 7"/>
          <p:cNvSpPr/>
          <p:nvPr/>
        </p:nvSpPr>
        <p:spPr>
          <a:xfrm>
            <a:off x="1101943" y="7579321"/>
            <a:ext cx="7983195" cy="894027"/>
          </a:xfrm>
          <a:prstGeom prst="rect">
            <a:avLst/>
          </a:prstGeom>
          <a:noFill/>
          <a:ln/>
        </p:spPr>
        <p:txBody>
          <a:bodyPr wrap="square" lIns="25400" tIns="25400" rIns="25400" bIns="25400" rtlCol="0" anchor="t">
            <a:normAutofit/>
          </a:bodyPr>
          <a:lstStyle/>
          <a:p>
            <a:pPr algn="l" marL="193358" indent="-193358">
              <a:lnSpc>
                <a:spcPct val="126422"/>
              </a:lnSpc>
              <a:buSzPct val="100000"/>
              <a:buChar char="•"/>
            </a:pPr>
            <a:r>
              <a:rPr lang="en-US" sz="2175" dirty="0">
                <a:solidFill>
                  <a:srgbClr val="43506B"/>
                </a:solidFill>
                <a:latin typeface="Figtree" pitchFamily="34" charset="0"/>
                <a:ea typeface="Figtree" pitchFamily="34" charset="-122"/>
                <a:cs typeface="Figtree" pitchFamily="34" charset="-120"/>
              </a:rPr>
              <a:t>Reassure at match time: </a:t>
            </a:r>
            <a:pPr algn="l" indent="0" marL="0">
              <a:lnSpc>
                <a:spcPct val="126422"/>
              </a:lnSpc>
              <a:buNone/>
            </a:pPr>
            <a:r>
              <a:rPr lang="en-US" sz="2175" i="1" dirty="0">
                <a:solidFill>
                  <a:srgbClr val="43506B"/>
                </a:solidFill>
                <a:latin typeface="Figtree" pitchFamily="34" charset="0"/>
                <a:ea typeface="Figtree" pitchFamily="34" charset="-122"/>
                <a:cs typeface="Figtree" pitchFamily="34" charset="-120"/>
              </a:rPr>
              <a:t>"Police-checked · Licensed · Tracked to your door."</a:t>
            </a:r>
            <a:endParaRPr lang="en-US" sz="2175" dirty="0"/>
          </a:p>
        </p:txBody>
      </p:sp>
      <p:sp>
        <p:nvSpPr>
          <p:cNvPr id="10" name="Shape 8"/>
          <p:cNvSpPr/>
          <p:nvPr/>
        </p:nvSpPr>
        <p:spPr>
          <a:xfrm>
            <a:off x="14097001" y="1895740"/>
            <a:ext cx="3048000" cy="6571423"/>
          </a:xfrm>
          <a:prstGeom prst="roundRect">
            <a:avLst>
              <a:gd name="adj" fmla="val 9375"/>
            </a:avLst>
          </a:prstGeom>
          <a:ln w="10583">
            <a:solidFill>
              <a:srgbClr val="0F172A">
                <a:alpha val="8000"/>
              </a:srgbClr>
            </a:solidFill>
            <a:prstDash val="solid"/>
          </a:ln>
          <a:effectLst>
            <a:outerShdw sx="100000" sy="100000" kx="0" ky="0" algn="bl" rotWithShape="0" blurRad="666750" dist="285750" dir="5400000">
              <a:srgbClr val="0D1424">
                <a:alpha val="28000"/>
              </a:srgbClr>
            </a:outerShdw>
          </a:effectLst>
        </p:spPr>
      </p:sp>
      <p:pic>
        <p:nvPicPr>
          <p:cNvPr id="11" name="Image 0" descr="preencoded.png">    </p:cNvPr>
          <p:cNvPicPr>
            <a:picLocks noChangeAspect="1"/>
          </p:cNvPicPr>
          <p:nvPr/>
        </p:nvPicPr>
        <p:blipFill>
          <a:blip r:embed="rId1"/>
          <a:stretch>
            <a:fillRect/>
          </a:stretch>
        </p:blipFill>
        <p:spPr>
          <a:xfrm>
            <a:off x="14097001" y="1895740"/>
            <a:ext cx="3048000" cy="657142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1143000" y="1895740"/>
            <a:ext cx="3048000" cy="6571423"/>
          </a:xfrm>
          <a:prstGeom prst="roundRect">
            <a:avLst>
              <a:gd name="adj" fmla="val 9375"/>
            </a:avLst>
          </a:prstGeom>
          <a:ln w="10583">
            <a:solidFill>
              <a:srgbClr val="0F172A">
                <a:alpha val="8000"/>
              </a:srgbClr>
            </a:solidFill>
            <a:prstDash val="solid"/>
          </a:ln>
          <a:effectLst>
            <a:outerShdw sx="100000" sy="100000" kx="0" ky="0" algn="bl" rotWithShape="0" blurRad="666750" dist="285750" dir="5400000">
              <a:srgbClr val="0D1424">
                <a:alpha val="28000"/>
              </a:srgbClr>
            </a:outerShdw>
          </a:effectLst>
        </p:spPr>
      </p:sp>
      <p:pic>
        <p:nvPicPr>
          <p:cNvPr id="3" name="Image 0" descr="preencoded.png">    </p:cNvPr>
          <p:cNvPicPr>
            <a:picLocks noChangeAspect="1"/>
          </p:cNvPicPr>
          <p:nvPr/>
        </p:nvPicPr>
        <p:blipFill>
          <a:blip r:embed="rId1"/>
          <a:stretch>
            <a:fillRect/>
          </a:stretch>
        </p:blipFill>
        <p:spPr>
          <a:xfrm>
            <a:off x="1143000" y="1895740"/>
            <a:ext cx="3048000" cy="6571423"/>
          </a:xfrm>
          <a:prstGeom prst="rect">
            <a:avLst/>
          </a:prstGeom>
        </p:spPr>
      </p:pic>
      <p:sp>
        <p:nvSpPr>
          <p:cNvPr id="4" name="Shape 1"/>
          <p:cNvSpPr/>
          <p:nvPr/>
        </p:nvSpPr>
        <p:spPr>
          <a:xfrm>
            <a:off x="4953000" y="2141637"/>
            <a:ext cx="2844932" cy="427302"/>
          </a:xfrm>
          <a:prstGeom prst="roundRect">
            <a:avLst>
              <a:gd name="adj" fmla="val 50000"/>
            </a:avLst>
          </a:prstGeom>
          <a:solidFill>
            <a:srgbClr val="5B6B85"/>
          </a:solidFill>
          <a:ln/>
        </p:spPr>
      </p:sp>
      <p:sp>
        <p:nvSpPr>
          <p:cNvPr id="5" name="Text 2"/>
          <p:cNvSpPr/>
          <p:nvPr/>
        </p:nvSpPr>
        <p:spPr>
          <a:xfrm>
            <a:off x="5124450" y="2217837"/>
            <a:ext cx="2587380" cy="313002"/>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Figtree" pitchFamily="34" charset="0"/>
                <a:ea typeface="Figtree" pitchFamily="34" charset="-122"/>
                <a:cs typeface="Figtree" pitchFamily="34" charset="-120"/>
              </a:rPr>
              <a:t>Medium impact · Safety</a:t>
            </a:r>
            <a:endParaRPr lang="en-US" sz="1800" dirty="0"/>
          </a:p>
        </p:txBody>
      </p:sp>
      <p:sp>
        <p:nvSpPr>
          <p:cNvPr id="6" name="Text 3"/>
          <p:cNvSpPr/>
          <p:nvPr/>
        </p:nvSpPr>
        <p:spPr>
          <a:xfrm>
            <a:off x="4953000" y="2759439"/>
            <a:ext cx="13515976" cy="646311"/>
          </a:xfrm>
          <a:prstGeom prst="rect">
            <a:avLst/>
          </a:prstGeom>
          <a:noFill/>
          <a:ln/>
        </p:spPr>
        <p:txBody>
          <a:bodyPr wrap="square" lIns="25400" tIns="25400" rIns="25400" bIns="25400" rtlCol="0" anchor="t">
            <a:normAutofit/>
          </a:bodyPr>
          <a:lstStyle/>
          <a:p>
            <a:pPr algn="l" indent="0" marL="0">
              <a:lnSpc>
                <a:spcPct val="94220"/>
              </a:lnSpc>
              <a:buNone/>
            </a:pPr>
            <a:r>
              <a:rPr lang="en-US" sz="4650" b="1" spc="-93" kern="0" dirty="0">
                <a:solidFill>
                  <a:srgbClr val="0F172A"/>
                </a:solidFill>
                <a:latin typeface="Archivo" pitchFamily="34" charset="0"/>
                <a:ea typeface="Archivo" pitchFamily="34" charset="-122"/>
                <a:cs typeface="Archivo" pitchFamily="34" charset="-120"/>
              </a:rPr>
              <a:t>Make timing &amp; emergency unmissable</a:t>
            </a:r>
            <a:endParaRPr lang="en-US" sz="4650" dirty="0"/>
          </a:p>
        </p:txBody>
      </p:sp>
      <p:sp>
        <p:nvSpPr>
          <p:cNvPr id="7" name="Text 4"/>
          <p:cNvSpPr/>
          <p:nvPr/>
        </p:nvSpPr>
        <p:spPr>
          <a:xfrm>
            <a:off x="4953000" y="3615201"/>
            <a:ext cx="8044816" cy="1810147"/>
          </a:xfrm>
          <a:prstGeom prst="rect">
            <a:avLst/>
          </a:prstGeom>
          <a:noFill/>
          <a:ln/>
        </p:spPr>
        <p:txBody>
          <a:bodyPr wrap="square" lIns="25400" tIns="25400" rIns="25400" bIns="25400" rtlCol="0" anchor="t">
            <a:normAutofit/>
          </a:bodyPr>
          <a:lstStyle/>
          <a:p>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Step 4 stacks two separate decisions — </a:t>
            </a:r>
            <a:pPr algn="l" indent="0" marL="0">
              <a:lnSpc>
                <a:spcPct val="123088"/>
              </a:lnSpc>
              <a:buNone/>
            </a:pPr>
            <a:r>
              <a:rPr lang="en-US" sz="2325" i="1" dirty="0">
                <a:solidFill>
                  <a:srgbClr val="43506B"/>
                </a:solidFill>
                <a:latin typeface="Figtree" pitchFamily="34" charset="0"/>
                <a:ea typeface="Figtree" pitchFamily="34" charset="-122"/>
                <a:cs typeface="Figtree" pitchFamily="34" charset="-120"/>
              </a:rPr>
              <a:t>when </a:t>
            </a:r>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and </a:t>
            </a:r>
            <a:pPr algn="l" indent="0" marL="0">
              <a:lnSpc>
                <a:spcPct val="123088"/>
              </a:lnSpc>
              <a:buNone/>
            </a:pPr>
            <a:r>
              <a:rPr lang="en-US" sz="2325" i="1" dirty="0">
                <a:solidFill>
                  <a:srgbClr val="43506B"/>
                </a:solidFill>
                <a:latin typeface="Figtree" pitchFamily="34" charset="0"/>
                <a:ea typeface="Figtree" pitchFamily="34" charset="-122"/>
                <a:cs typeface="Figtree" pitchFamily="34" charset="-120"/>
              </a:rPr>
              <a:t>how to match </a:t>
            </a:r>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 and hides a safety-critical emergency toggle as the last checkbox. In a real emergency, that's the wrong place for it.</a:t>
            </a:r>
            <a:endParaRPr lang="en-US" sz="2325" dirty="0"/>
          </a:p>
        </p:txBody>
      </p:sp>
      <p:sp>
        <p:nvSpPr>
          <p:cNvPr id="8" name="Text 5"/>
          <p:cNvSpPr/>
          <p:nvPr/>
        </p:nvSpPr>
        <p:spPr>
          <a:xfrm>
            <a:off x="4953000" y="5672998"/>
            <a:ext cx="13515976" cy="313267"/>
          </a:xfrm>
          <a:prstGeom prst="rect">
            <a:avLst/>
          </a:prstGeom>
          <a:noFill/>
          <a:ln/>
        </p:spPr>
        <p:txBody>
          <a:bodyPr wrap="square" lIns="25400" tIns="25400" rIns="25400" bIns="25400" rtlCol="0" anchor="t">
            <a:normAutofit/>
          </a:bodyPr>
          <a:lstStyle/>
          <a:p>
            <a:pPr algn="l" indent="0" marL="0">
              <a:buNone/>
            </a:pPr>
            <a:r>
              <a:rPr lang="en-US" sz="1950" b="1" dirty="0">
                <a:solidFill>
                  <a:srgbClr val="0F172A"/>
                </a:solidFill>
                <a:latin typeface="Archivo" pitchFamily="34" charset="0"/>
                <a:ea typeface="Archivo" pitchFamily="34" charset="-122"/>
                <a:cs typeface="Archivo" pitchFamily="34" charset="-120"/>
              </a:rPr>
              <a:t>Do this</a:t>
            </a:r>
            <a:endParaRPr lang="en-US" sz="1950" dirty="0"/>
          </a:p>
        </p:txBody>
      </p:sp>
      <p:sp>
        <p:nvSpPr>
          <p:cNvPr id="9" name="Text 6"/>
          <p:cNvSpPr/>
          <p:nvPr/>
        </p:nvSpPr>
        <p:spPr>
          <a:xfrm>
            <a:off x="5007194" y="6081448"/>
            <a:ext cx="8512602" cy="466064"/>
          </a:xfrm>
          <a:prstGeom prst="rect">
            <a:avLst/>
          </a:prstGeom>
          <a:noFill/>
          <a:ln/>
        </p:spPr>
        <p:txBody>
          <a:bodyPr wrap="square" lIns="25400" tIns="25400" rIns="25400" bIns="25400" rtlCol="0" anchor="t">
            <a:normAutofit/>
          </a:bodyPr>
          <a:lstStyle/>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Split "when" and "matching" into two clean decisions.</a:t>
            </a:r>
            <a:endParaRPr lang="en-US" sz="2175" dirty="0"/>
          </a:p>
        </p:txBody>
      </p:sp>
      <p:sp>
        <p:nvSpPr>
          <p:cNvPr id="10" name="Text 7"/>
          <p:cNvSpPr/>
          <p:nvPr/>
        </p:nvSpPr>
        <p:spPr>
          <a:xfrm>
            <a:off x="5007194" y="6509412"/>
            <a:ext cx="7983195" cy="894027"/>
          </a:xfrm>
          <a:prstGeom prst="rect">
            <a:avLst/>
          </a:prstGeom>
          <a:noFill/>
          <a:ln/>
        </p:spPr>
        <p:txBody>
          <a:bodyPr wrap="square" lIns="25400" tIns="25400" rIns="25400" bIns="25400" rtlCol="0" anchor="t">
            <a:normAutofit/>
          </a:bodyPr>
          <a:lstStyle/>
          <a:p>
            <a:pPr algn="l" marL="193358" indent="-193358">
              <a:lnSpc>
                <a:spcPct val="126422"/>
              </a:lnSpc>
              <a:buSzPct val="100000"/>
              <a:buChar char="•"/>
            </a:pPr>
            <a:r>
              <a:rPr lang="en-US" sz="2175" dirty="0">
                <a:solidFill>
                  <a:srgbClr val="43506B"/>
                </a:solidFill>
                <a:latin typeface="Figtree" pitchFamily="34" charset="0"/>
                <a:ea typeface="Figtree" pitchFamily="34" charset="-122"/>
                <a:cs typeface="Figtree" pitchFamily="34" charset="-120"/>
              </a:rPr>
              <a:t>Surface emergency guidance early, with a prominent </a:t>
            </a:r>
            <a:pPr algn="l" indent="0" marL="0">
              <a:lnSpc>
                <a:spcPct val="126422"/>
              </a:lnSpc>
              <a:buNone/>
            </a:pPr>
            <a:r>
              <a:rPr lang="en-US" sz="2175" b="1" dirty="0">
                <a:solidFill>
                  <a:srgbClr val="43506B"/>
                </a:solidFill>
                <a:latin typeface="Figtree" pitchFamily="34" charset="0"/>
                <a:ea typeface="Figtree" pitchFamily="34" charset="-122"/>
                <a:cs typeface="Figtree" pitchFamily="34" charset="-120"/>
              </a:rPr>
              <a:t>call 111 </a:t>
            </a:r>
            <a:pPr algn="l" indent="0" marL="0">
              <a:lnSpc>
                <a:spcPct val="126422"/>
              </a:lnSpc>
              <a:buNone/>
            </a:pPr>
            <a:r>
              <a:rPr lang="en-US" sz="2175" dirty="0">
                <a:solidFill>
                  <a:srgbClr val="43506B"/>
                </a:solidFill>
                <a:latin typeface="Figtree" pitchFamily="34" charset="0"/>
                <a:ea typeface="Figtree" pitchFamily="34" charset="-122"/>
                <a:cs typeface="Figtree" pitchFamily="34" charset="-120"/>
              </a:rPr>
              <a:t>prompt.</a:t>
            </a:r>
            <a:endParaRPr lang="en-US" sz="2175" dirty="0"/>
          </a:p>
        </p:txBody>
      </p:sp>
      <p:sp>
        <p:nvSpPr>
          <p:cNvPr id="11" name="Text 8"/>
          <p:cNvSpPr/>
          <p:nvPr/>
        </p:nvSpPr>
        <p:spPr>
          <a:xfrm>
            <a:off x="5007194" y="7365339"/>
            <a:ext cx="7983195" cy="894027"/>
          </a:xfrm>
          <a:prstGeom prst="rect">
            <a:avLst/>
          </a:prstGeom>
          <a:noFill/>
          <a:ln/>
        </p:spPr>
        <p:txBody>
          <a:bodyPr wrap="square" lIns="25400" tIns="25400" rIns="25400" bIns="25400" rtlCol="0" anchor="t">
            <a:normAutofit/>
          </a:bodyPr>
          <a:lstStyle/>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Make the danger path visually distinct — not a quiet checkbox.</a:t>
            </a:r>
            <a:endParaRPr lang="en-US" sz="21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1047750" y="1920214"/>
            <a:ext cx="2421599" cy="427302"/>
          </a:xfrm>
          <a:prstGeom prst="roundRect">
            <a:avLst>
              <a:gd name="adj" fmla="val 50000"/>
            </a:avLst>
          </a:prstGeom>
          <a:solidFill>
            <a:srgbClr val="0D1424"/>
          </a:solidFill>
          <a:ln/>
        </p:spPr>
      </p:sp>
      <p:sp>
        <p:nvSpPr>
          <p:cNvPr id="3" name="Text 1"/>
          <p:cNvSpPr/>
          <p:nvPr/>
        </p:nvSpPr>
        <p:spPr>
          <a:xfrm>
            <a:off x="1219200" y="1996414"/>
            <a:ext cx="2154899" cy="313002"/>
          </a:xfrm>
          <a:prstGeom prst="rect">
            <a:avLst/>
          </a:prstGeom>
          <a:noFill/>
          <a:ln/>
        </p:spPr>
        <p:txBody>
          <a:bodyPr wrap="square" lIns="25400" tIns="25400" rIns="25400" bIns="25400" rtlCol="0" anchor="t">
            <a:normAutofit/>
          </a:bodyPr>
          <a:lstStyle/>
          <a:p>
            <a:pPr algn="l" indent="0" marL="0">
              <a:buNone/>
            </a:pPr>
            <a:r>
              <a:rPr lang="en-US" sz="1800" b="1" dirty="0">
                <a:solidFill>
                  <a:srgbClr val="FFFFFF"/>
                </a:solidFill>
                <a:latin typeface="Figtree" pitchFamily="34" charset="0"/>
                <a:ea typeface="Figtree" pitchFamily="34" charset="-122"/>
                <a:cs typeface="Figtree" pitchFamily="34" charset="-120"/>
              </a:rPr>
              <a:t>High impact · Portal</a:t>
            </a:r>
            <a:endParaRPr lang="en-US" sz="1800" dirty="0"/>
          </a:p>
        </p:txBody>
      </p:sp>
      <p:sp>
        <p:nvSpPr>
          <p:cNvPr id="4" name="Text 2"/>
          <p:cNvSpPr/>
          <p:nvPr/>
        </p:nvSpPr>
        <p:spPr>
          <a:xfrm>
            <a:off x="1047750" y="2538016"/>
            <a:ext cx="12153900" cy="646311"/>
          </a:xfrm>
          <a:prstGeom prst="rect">
            <a:avLst/>
          </a:prstGeom>
          <a:noFill/>
          <a:ln/>
        </p:spPr>
        <p:txBody>
          <a:bodyPr wrap="square" lIns="25400" tIns="25400" rIns="25400" bIns="25400" rtlCol="0" anchor="t">
            <a:normAutofit/>
          </a:bodyPr>
          <a:lstStyle/>
          <a:p>
            <a:pPr algn="l" indent="0" marL="0">
              <a:lnSpc>
                <a:spcPct val="94220"/>
              </a:lnSpc>
              <a:buNone/>
            </a:pPr>
            <a:r>
              <a:rPr lang="en-US" sz="4650" b="1" spc="-93" kern="0" dirty="0">
                <a:solidFill>
                  <a:srgbClr val="0F172A"/>
                </a:solidFill>
                <a:latin typeface="Archivo" pitchFamily="34" charset="0"/>
                <a:ea typeface="Archivo" pitchFamily="34" charset="-122"/>
                <a:cs typeface="Archivo" pitchFamily="34" charset="-120"/>
              </a:rPr>
              <a:t>Replace empty with onboarding</a:t>
            </a:r>
            <a:endParaRPr lang="en-US" sz="4650" dirty="0"/>
          </a:p>
        </p:txBody>
      </p:sp>
      <p:sp>
        <p:nvSpPr>
          <p:cNvPr id="5" name="Text 3"/>
          <p:cNvSpPr/>
          <p:nvPr/>
        </p:nvSpPr>
        <p:spPr>
          <a:xfrm>
            <a:off x="1047750" y="3393777"/>
            <a:ext cx="7456171" cy="2253159"/>
          </a:xfrm>
          <a:prstGeom prst="rect">
            <a:avLst/>
          </a:prstGeom>
          <a:noFill/>
          <a:ln/>
        </p:spPr>
        <p:txBody>
          <a:bodyPr wrap="square" lIns="25400" tIns="25400" rIns="25400" bIns="25400" rtlCol="0" anchor="t">
            <a:normAutofit/>
          </a:bodyPr>
          <a:lstStyle/>
          <a:p>
            <a:pPr algn="l" indent="0" marL="0">
              <a:lnSpc>
                <a:spcPct val="123088"/>
              </a:lnSpc>
              <a:buNone/>
            </a:pPr>
            <a:r>
              <a:rPr lang="en-US" sz="2325" dirty="0">
                <a:solidFill>
                  <a:srgbClr val="43506B"/>
                </a:solidFill>
                <a:latin typeface="Figtree" pitchFamily="34" charset="0"/>
                <a:ea typeface="Figtree" pitchFamily="34" charset="-122"/>
                <a:cs typeface="Figtree" pitchFamily="34" charset="-120"/>
              </a:rPr>
              <a:t>A trade company signs up and lands on four zeros and an empty chart. There's no path to value. The activation moment is clear — add tradies, set a rate card, get the first job — so make the dashboard walk them there.</a:t>
            </a:r>
            <a:endParaRPr lang="en-US" sz="2325" dirty="0"/>
          </a:p>
        </p:txBody>
      </p:sp>
      <p:sp>
        <p:nvSpPr>
          <p:cNvPr id="6" name="Text 4"/>
          <p:cNvSpPr/>
          <p:nvPr/>
        </p:nvSpPr>
        <p:spPr>
          <a:xfrm>
            <a:off x="1047750" y="5894586"/>
            <a:ext cx="12153900" cy="313267"/>
          </a:xfrm>
          <a:prstGeom prst="rect">
            <a:avLst/>
          </a:prstGeom>
          <a:noFill/>
          <a:ln/>
        </p:spPr>
        <p:txBody>
          <a:bodyPr wrap="square" lIns="25400" tIns="25400" rIns="25400" bIns="25400" rtlCol="0" anchor="t">
            <a:normAutofit/>
          </a:bodyPr>
          <a:lstStyle/>
          <a:p>
            <a:pPr algn="l" indent="0" marL="0">
              <a:buNone/>
            </a:pPr>
            <a:r>
              <a:rPr lang="en-US" sz="1950" b="1" dirty="0">
                <a:solidFill>
                  <a:srgbClr val="0F172A"/>
                </a:solidFill>
                <a:latin typeface="Archivo" pitchFamily="34" charset="0"/>
                <a:ea typeface="Archivo" pitchFamily="34" charset="-122"/>
                <a:cs typeface="Archivo" pitchFamily="34" charset="-120"/>
              </a:rPr>
              <a:t>Do this</a:t>
            </a:r>
            <a:endParaRPr lang="en-US" sz="1950" dirty="0"/>
          </a:p>
        </p:txBody>
      </p:sp>
      <p:sp>
        <p:nvSpPr>
          <p:cNvPr id="7" name="Text 5"/>
          <p:cNvSpPr/>
          <p:nvPr/>
        </p:nvSpPr>
        <p:spPr>
          <a:xfrm>
            <a:off x="1101943" y="6303037"/>
            <a:ext cx="7261007" cy="2177918"/>
          </a:xfrm>
          <a:prstGeom prst="rect">
            <a:avLst/>
          </a:prstGeom>
          <a:noFill/>
          <a:ln/>
        </p:spPr>
        <p:txBody>
          <a:bodyPr wrap="square" lIns="25400" tIns="25400" rIns="25400" bIns="25400" rtlCol="0" anchor="t">
            <a:normAutofit/>
          </a:bodyPr>
          <a:lstStyle/>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Show a setup checklist until the first metrics exist.</a:t>
            </a:r>
            <a:endParaRPr lang="en-US" sz="2175" dirty="0"/>
          </a:p>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One primary next action per state — don't scatter two "Add tradies" buttons.</a:t>
            </a:r>
            <a:endParaRPr lang="en-US" sz="2175" dirty="0"/>
          </a:p>
          <a:p>
            <a:pPr algn="l" marL="193358" indent="-193358">
              <a:lnSpc>
                <a:spcPct val="126422"/>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Celebrate the first completed job; that's the retention hook.</a:t>
            </a:r>
            <a:endParaRPr lang="en-US" sz="2175" dirty="0"/>
          </a:p>
        </p:txBody>
      </p:sp>
      <p:sp>
        <p:nvSpPr>
          <p:cNvPr id="8" name="Text 6"/>
          <p:cNvSpPr/>
          <p:nvPr/>
        </p:nvSpPr>
        <p:spPr>
          <a:xfrm>
            <a:off x="12763501" y="3145896"/>
            <a:ext cx="4924425" cy="313267"/>
          </a:xfrm>
          <a:prstGeom prst="rect">
            <a:avLst/>
          </a:prstGeom>
          <a:noFill/>
          <a:ln/>
        </p:spPr>
        <p:txBody>
          <a:bodyPr wrap="square" lIns="25400" tIns="25400" rIns="25400" bIns="25400" rtlCol="0" anchor="t">
            <a:normAutofit/>
          </a:bodyPr>
          <a:lstStyle/>
          <a:p>
            <a:pPr algn="l" indent="0" marL="0">
              <a:buNone/>
            </a:pPr>
            <a:r>
              <a:rPr lang="en-US" sz="1950" b="1" dirty="0">
                <a:solidFill>
                  <a:srgbClr val="0F172A"/>
                </a:solidFill>
                <a:latin typeface="Archivo" pitchFamily="34" charset="0"/>
                <a:ea typeface="Archivo" pitchFamily="34" charset="-122"/>
                <a:cs typeface="Archivo" pitchFamily="34" charset="-120"/>
              </a:rPr>
              <a:t>Get North Shore Trades live</a:t>
            </a:r>
            <a:endParaRPr lang="en-US" sz="1950" dirty="0"/>
          </a:p>
        </p:txBody>
      </p:sp>
      <p:sp>
        <p:nvSpPr>
          <p:cNvPr id="9" name="Shape 7"/>
          <p:cNvSpPr/>
          <p:nvPr/>
        </p:nvSpPr>
        <p:spPr>
          <a:xfrm>
            <a:off x="12763501" y="3573364"/>
            <a:ext cx="4476750" cy="802018"/>
          </a:xfrm>
          <a:prstGeom prst="roundRect">
            <a:avLst>
              <a:gd name="adj" fmla="val 19002"/>
            </a:avLst>
          </a:prstGeom>
          <a:solidFill>
            <a:srgbClr val="FFFFFF"/>
          </a:solidFill>
          <a:ln w="10583">
            <a:solidFill>
              <a:srgbClr val="0F172A">
                <a:alpha val="6000"/>
              </a:srgbClr>
            </a:solidFill>
            <a:prstDash val="solid"/>
          </a:ln>
          <a:effectLst>
            <a:outerShdw sx="100000" sy="100000" kx="0" ky="0" algn="bl" rotWithShape="0" blurRad="381000" dist="152400" dir="5400000">
              <a:srgbClr val="0D1424">
                <a:alpha val="10000"/>
              </a:srgbClr>
            </a:outerShdw>
          </a:effectLst>
        </p:spPr>
      </p:sp>
      <p:sp>
        <p:nvSpPr>
          <p:cNvPr id="10" name="Shape 8"/>
          <p:cNvSpPr/>
          <p:nvPr/>
        </p:nvSpPr>
        <p:spPr>
          <a:xfrm>
            <a:off x="13021634" y="3812481"/>
            <a:ext cx="323784" cy="323784"/>
          </a:xfrm>
          <a:prstGeom prst="ellipse">
            <a:avLst/>
          </a:prstGeom>
          <a:solidFill>
            <a:srgbClr val="16A34A"/>
          </a:solidFill>
          <a:ln/>
        </p:spPr>
      </p:sp>
      <p:sp>
        <p:nvSpPr>
          <p:cNvPr id="11" name="Text 9"/>
          <p:cNvSpPr/>
          <p:nvPr/>
        </p:nvSpPr>
        <p:spPr>
          <a:xfrm>
            <a:off x="12983534" y="3812481"/>
            <a:ext cx="399984" cy="361884"/>
          </a:xfrm>
          <a:prstGeom prst="rect">
            <a:avLst/>
          </a:prstGeom>
          <a:noFill/>
          <a:ln/>
        </p:spPr>
        <p:txBody>
          <a:bodyPr wrap="square" lIns="25400" tIns="25400" rIns="25400" bIns="25400" rtlCol="0" anchor="ctr">
            <a:normAutofit/>
          </a:bodyPr>
          <a:lstStyle/>
          <a:p>
            <a:pPr algn="ctr" indent="0" marL="0">
              <a:buNone/>
            </a:pPr>
            <a:r>
              <a:rPr lang="en-US" sz="1800" b="1" dirty="0">
                <a:solidFill>
                  <a:srgbClr val="FFFFFF"/>
                </a:solidFill>
                <a:latin typeface="Figtree" pitchFamily="34" charset="0"/>
                <a:ea typeface="Figtree" pitchFamily="34" charset="-122"/>
                <a:cs typeface="Figtree" pitchFamily="34" charset="-120"/>
              </a:rPr>
              <a:t>✓</a:t>
            </a:r>
            <a:endParaRPr lang="en-US" sz="1800" dirty="0"/>
          </a:p>
        </p:txBody>
      </p:sp>
      <p:sp>
        <p:nvSpPr>
          <p:cNvPr id="12" name="Text 10"/>
          <p:cNvSpPr/>
          <p:nvPr/>
        </p:nvSpPr>
        <p:spPr>
          <a:xfrm>
            <a:off x="13516737" y="3820914"/>
            <a:ext cx="3257120" cy="345017"/>
          </a:xfrm>
          <a:prstGeom prst="rect">
            <a:avLst/>
          </a:prstGeom>
          <a:noFill/>
          <a:ln/>
        </p:spPr>
        <p:txBody>
          <a:bodyPr wrap="square" lIns="25400" tIns="25400" rIns="25400" bIns="25400" rtlCol="0" anchor="t">
            <a:normAutofit/>
          </a:bodyPr>
          <a:lstStyle/>
          <a:p>
            <a:pPr algn="l" indent="0" marL="0">
              <a:buNone/>
            </a:pPr>
            <a:r>
              <a:rPr lang="en-US" sz="2025" b="1" dirty="0">
                <a:solidFill>
                  <a:srgbClr val="0F172A"/>
                </a:solidFill>
                <a:latin typeface="Figtree" pitchFamily="34" charset="0"/>
                <a:ea typeface="Figtree" pitchFamily="34" charset="-122"/>
                <a:cs typeface="Figtree" pitchFamily="34" charset="-120"/>
              </a:rPr>
              <a:t>Create company account</a:t>
            </a:r>
            <a:endParaRPr lang="en-US" sz="2025" dirty="0"/>
          </a:p>
        </p:txBody>
      </p:sp>
      <p:sp>
        <p:nvSpPr>
          <p:cNvPr id="13" name="Shape 11"/>
          <p:cNvSpPr/>
          <p:nvPr/>
        </p:nvSpPr>
        <p:spPr>
          <a:xfrm>
            <a:off x="12763501" y="4527683"/>
            <a:ext cx="4476750" cy="780852"/>
          </a:xfrm>
          <a:prstGeom prst="roundRect">
            <a:avLst>
              <a:gd name="adj" fmla="val 19517"/>
            </a:avLst>
          </a:prstGeom>
          <a:solidFill>
            <a:srgbClr val="0D1424"/>
          </a:solidFill>
          <a:ln/>
        </p:spPr>
      </p:sp>
      <p:sp>
        <p:nvSpPr>
          <p:cNvPr id="14" name="Shape 12"/>
          <p:cNvSpPr/>
          <p:nvPr/>
        </p:nvSpPr>
        <p:spPr>
          <a:xfrm>
            <a:off x="13011051" y="4756216"/>
            <a:ext cx="323784" cy="323784"/>
          </a:xfrm>
          <a:prstGeom prst="ellipse">
            <a:avLst/>
          </a:prstGeom>
          <a:solidFill>
            <a:srgbClr val="FBB040"/>
          </a:solidFill>
          <a:ln/>
        </p:spPr>
      </p:sp>
      <p:sp>
        <p:nvSpPr>
          <p:cNvPr id="15" name="Text 13"/>
          <p:cNvSpPr/>
          <p:nvPr/>
        </p:nvSpPr>
        <p:spPr>
          <a:xfrm>
            <a:off x="12972951" y="4756216"/>
            <a:ext cx="399984" cy="361884"/>
          </a:xfrm>
          <a:prstGeom prst="rect">
            <a:avLst/>
          </a:prstGeom>
          <a:noFill/>
          <a:ln/>
        </p:spPr>
        <p:txBody>
          <a:bodyPr wrap="square" lIns="25400" tIns="25400" rIns="25400" bIns="25400" rtlCol="0" anchor="ctr">
            <a:normAutofit/>
          </a:bodyPr>
          <a:lstStyle/>
          <a:p>
            <a:pPr algn="ctr" indent="0" marL="0">
              <a:buNone/>
            </a:pPr>
            <a:r>
              <a:rPr lang="en-US" sz="1500" b="1" dirty="0">
                <a:solidFill>
                  <a:srgbClr val="0D1424"/>
                </a:solidFill>
                <a:latin typeface="Figtree" pitchFamily="34" charset="0"/>
                <a:ea typeface="Figtree" pitchFamily="34" charset="-122"/>
                <a:cs typeface="Figtree" pitchFamily="34" charset="-120"/>
              </a:rPr>
              <a:t>2</a:t>
            </a:r>
            <a:endParaRPr lang="en-US" sz="1500" dirty="0"/>
          </a:p>
        </p:txBody>
      </p:sp>
      <p:sp>
        <p:nvSpPr>
          <p:cNvPr id="16" name="Text 14"/>
          <p:cNvSpPr/>
          <p:nvPr/>
        </p:nvSpPr>
        <p:spPr>
          <a:xfrm>
            <a:off x="13506154" y="4764650"/>
            <a:ext cx="2987361" cy="345017"/>
          </a:xfrm>
          <a:prstGeom prst="rect">
            <a:avLst/>
          </a:prstGeom>
          <a:noFill/>
          <a:ln/>
        </p:spPr>
        <p:txBody>
          <a:bodyPr wrap="square" lIns="25400" tIns="25400" rIns="25400" bIns="25400" rtlCol="0" anchor="t">
            <a:normAutofit/>
          </a:bodyPr>
          <a:lstStyle/>
          <a:p>
            <a:pPr algn="l" indent="0" marL="0">
              <a:buNone/>
            </a:pPr>
            <a:r>
              <a:rPr lang="en-US" sz="2025" b="1" dirty="0">
                <a:solidFill>
                  <a:srgbClr val="FFFFFF"/>
                </a:solidFill>
                <a:latin typeface="Figtree" pitchFamily="34" charset="0"/>
                <a:ea typeface="Figtree" pitchFamily="34" charset="-122"/>
                <a:cs typeface="Figtree" pitchFamily="34" charset="-120"/>
              </a:rPr>
              <a:t>Add your first tradie →</a:t>
            </a:r>
            <a:endParaRPr lang="en-US" sz="2025" dirty="0"/>
          </a:p>
        </p:txBody>
      </p:sp>
      <p:sp>
        <p:nvSpPr>
          <p:cNvPr id="17" name="Shape 15"/>
          <p:cNvSpPr/>
          <p:nvPr/>
        </p:nvSpPr>
        <p:spPr>
          <a:xfrm>
            <a:off x="12763501" y="5460835"/>
            <a:ext cx="4476750" cy="802018"/>
          </a:xfrm>
          <a:prstGeom prst="roundRect">
            <a:avLst>
              <a:gd name="adj" fmla="val 19002"/>
            </a:avLst>
          </a:prstGeom>
          <a:solidFill>
            <a:srgbClr val="FFFFFF">
              <a:alpha val="60000"/>
            </a:srgbClr>
          </a:solidFill>
          <a:ln w="10583">
            <a:solidFill>
              <a:srgbClr val="0F172A">
                <a:alpha val="4000"/>
              </a:srgbClr>
            </a:solidFill>
            <a:prstDash val="solid"/>
          </a:ln>
          <a:effectLst>
            <a:outerShdw sx="100000" sy="100000" kx="0" ky="0" algn="bl" rotWithShape="0" blurRad="381000" dist="152400" dir="5400000">
              <a:srgbClr val="0D1424">
                <a:alpha val="6000"/>
              </a:srgbClr>
            </a:outerShdw>
          </a:effectLst>
        </p:spPr>
      </p:sp>
      <p:sp>
        <p:nvSpPr>
          <p:cNvPr id="18" name="Shape 16"/>
          <p:cNvSpPr/>
          <p:nvPr/>
        </p:nvSpPr>
        <p:spPr>
          <a:xfrm>
            <a:off x="13021634" y="5699952"/>
            <a:ext cx="323784" cy="323784"/>
          </a:xfrm>
          <a:prstGeom prst="ellipse">
            <a:avLst/>
          </a:prstGeom>
          <a:solidFill>
            <a:srgbClr val="E4E9F2">
              <a:alpha val="60000"/>
            </a:srgbClr>
          </a:solidFill>
          <a:ln/>
        </p:spPr>
      </p:sp>
      <p:sp>
        <p:nvSpPr>
          <p:cNvPr id="19" name="Text 17"/>
          <p:cNvSpPr/>
          <p:nvPr/>
        </p:nvSpPr>
        <p:spPr>
          <a:xfrm>
            <a:off x="12983534" y="5699952"/>
            <a:ext cx="399984" cy="361884"/>
          </a:xfrm>
          <a:prstGeom prst="rect">
            <a:avLst/>
          </a:prstGeom>
          <a:noFill/>
          <a:ln/>
        </p:spPr>
        <p:txBody>
          <a:bodyPr wrap="square" lIns="25400" tIns="25400" rIns="25400" bIns="25400" rtlCol="0" anchor="ctr">
            <a:normAutofit/>
          </a:bodyPr>
          <a:lstStyle/>
          <a:p>
            <a:pPr algn="ctr" indent="0" marL="0">
              <a:buNone/>
            </a:pPr>
            <a:r>
              <a:rPr lang="en-US" sz="1500" b="1" dirty="0">
                <a:solidFill>
                  <a:srgbClr val="5B6B85">
                    <a:alpha val="60000"/>
                  </a:srgbClr>
                </a:solidFill>
                <a:latin typeface="Figtree" pitchFamily="34" charset="0"/>
                <a:ea typeface="Figtree" pitchFamily="34" charset="-122"/>
                <a:cs typeface="Figtree" pitchFamily="34" charset="-120"/>
              </a:rPr>
              <a:t>3</a:t>
            </a:r>
            <a:endParaRPr lang="en-US" sz="1500" dirty="0"/>
          </a:p>
        </p:txBody>
      </p:sp>
      <p:sp>
        <p:nvSpPr>
          <p:cNvPr id="20" name="Text 18"/>
          <p:cNvSpPr/>
          <p:nvPr/>
        </p:nvSpPr>
        <p:spPr>
          <a:xfrm>
            <a:off x="13516737" y="5708386"/>
            <a:ext cx="2312326" cy="345017"/>
          </a:xfrm>
          <a:prstGeom prst="rect">
            <a:avLst/>
          </a:prstGeom>
          <a:noFill/>
          <a:ln/>
        </p:spPr>
        <p:txBody>
          <a:bodyPr wrap="square" lIns="25400" tIns="25400" rIns="25400" bIns="25400" rtlCol="0" anchor="t">
            <a:normAutofit/>
          </a:bodyPr>
          <a:lstStyle/>
          <a:p>
            <a:pPr algn="l" indent="0" marL="0">
              <a:buNone/>
            </a:pPr>
            <a:r>
              <a:rPr lang="en-US" sz="2025" b="1" dirty="0">
                <a:solidFill>
                  <a:srgbClr val="0F172A">
                    <a:alpha val="60000"/>
                  </a:srgbClr>
                </a:solidFill>
                <a:latin typeface="Figtree" pitchFamily="34" charset="0"/>
                <a:ea typeface="Figtree" pitchFamily="34" charset="-122"/>
                <a:cs typeface="Figtree" pitchFamily="34" charset="-120"/>
              </a:rPr>
              <a:t>Set your rate card</a:t>
            </a:r>
            <a:endParaRPr lang="en-US" sz="2025" dirty="0"/>
          </a:p>
        </p:txBody>
      </p:sp>
      <p:sp>
        <p:nvSpPr>
          <p:cNvPr id="21" name="Shape 19"/>
          <p:cNvSpPr/>
          <p:nvPr/>
        </p:nvSpPr>
        <p:spPr>
          <a:xfrm>
            <a:off x="12763501" y="6415154"/>
            <a:ext cx="4476750" cy="802018"/>
          </a:xfrm>
          <a:prstGeom prst="roundRect">
            <a:avLst>
              <a:gd name="adj" fmla="val 19002"/>
            </a:avLst>
          </a:prstGeom>
          <a:solidFill>
            <a:srgbClr val="FFFFFF">
              <a:alpha val="60000"/>
            </a:srgbClr>
          </a:solidFill>
          <a:ln w="10583">
            <a:solidFill>
              <a:srgbClr val="0F172A">
                <a:alpha val="4000"/>
              </a:srgbClr>
            </a:solidFill>
            <a:prstDash val="solid"/>
          </a:ln>
          <a:effectLst>
            <a:outerShdw sx="100000" sy="100000" kx="0" ky="0" algn="bl" rotWithShape="0" blurRad="381000" dist="152400" dir="5400000">
              <a:srgbClr val="0D1424">
                <a:alpha val="6000"/>
              </a:srgbClr>
            </a:outerShdw>
          </a:effectLst>
        </p:spPr>
      </p:sp>
      <p:sp>
        <p:nvSpPr>
          <p:cNvPr id="22" name="Shape 20"/>
          <p:cNvSpPr/>
          <p:nvPr/>
        </p:nvSpPr>
        <p:spPr>
          <a:xfrm>
            <a:off x="13021634" y="6654271"/>
            <a:ext cx="323784" cy="323784"/>
          </a:xfrm>
          <a:prstGeom prst="ellipse">
            <a:avLst/>
          </a:prstGeom>
          <a:solidFill>
            <a:srgbClr val="E4E9F2">
              <a:alpha val="60000"/>
            </a:srgbClr>
          </a:solidFill>
          <a:ln/>
        </p:spPr>
      </p:sp>
      <p:sp>
        <p:nvSpPr>
          <p:cNvPr id="23" name="Text 21"/>
          <p:cNvSpPr/>
          <p:nvPr/>
        </p:nvSpPr>
        <p:spPr>
          <a:xfrm>
            <a:off x="12983534" y="6654271"/>
            <a:ext cx="399984" cy="361884"/>
          </a:xfrm>
          <a:prstGeom prst="rect">
            <a:avLst/>
          </a:prstGeom>
          <a:noFill/>
          <a:ln/>
        </p:spPr>
        <p:txBody>
          <a:bodyPr wrap="square" lIns="25400" tIns="25400" rIns="25400" bIns="25400" rtlCol="0" anchor="ctr">
            <a:normAutofit/>
          </a:bodyPr>
          <a:lstStyle/>
          <a:p>
            <a:pPr algn="ctr" indent="0" marL="0">
              <a:buNone/>
            </a:pPr>
            <a:r>
              <a:rPr lang="en-US" sz="1500" b="1" dirty="0">
                <a:solidFill>
                  <a:srgbClr val="5B6B85">
                    <a:alpha val="60000"/>
                  </a:srgbClr>
                </a:solidFill>
                <a:latin typeface="Figtree" pitchFamily="34" charset="0"/>
                <a:ea typeface="Figtree" pitchFamily="34" charset="-122"/>
                <a:cs typeface="Figtree" pitchFamily="34" charset="-120"/>
              </a:rPr>
              <a:t>4</a:t>
            </a:r>
            <a:endParaRPr lang="en-US" sz="1500" dirty="0"/>
          </a:p>
        </p:txBody>
      </p:sp>
      <p:sp>
        <p:nvSpPr>
          <p:cNvPr id="24" name="Text 22"/>
          <p:cNvSpPr/>
          <p:nvPr/>
        </p:nvSpPr>
        <p:spPr>
          <a:xfrm>
            <a:off x="13516737" y="6662705"/>
            <a:ext cx="2345978" cy="345017"/>
          </a:xfrm>
          <a:prstGeom prst="rect">
            <a:avLst/>
          </a:prstGeom>
          <a:noFill/>
          <a:ln/>
        </p:spPr>
        <p:txBody>
          <a:bodyPr wrap="square" lIns="25400" tIns="25400" rIns="25400" bIns="25400" rtlCol="0" anchor="t">
            <a:normAutofit/>
          </a:bodyPr>
          <a:lstStyle/>
          <a:p>
            <a:pPr algn="l" indent="0" marL="0">
              <a:buNone/>
            </a:pPr>
            <a:r>
              <a:rPr lang="en-US" sz="2025" b="1" dirty="0">
                <a:solidFill>
                  <a:srgbClr val="0F172A">
                    <a:alpha val="60000"/>
                  </a:srgbClr>
                </a:solidFill>
                <a:latin typeface="Figtree" pitchFamily="34" charset="0"/>
                <a:ea typeface="Figtree" pitchFamily="34" charset="-122"/>
                <a:cs typeface="Figtree" pitchFamily="34" charset="-120"/>
              </a:rPr>
              <a:t>Land your first job</a:t>
            </a:r>
            <a:endParaRPr lang="en-US" sz="20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B040"/>
        </a:solidFill>
      </p:bgPr>
    </p:bg>
    <p:spTree>
      <p:nvGrpSpPr>
        <p:cNvPr id="1" name=""/>
        <p:cNvGrpSpPr/>
        <p:nvPr/>
      </p:nvGrpSpPr>
      <p:grpSpPr>
        <a:xfrm>
          <a:off x="0" y="0"/>
          <a:ext cx="0" cy="0"/>
          <a:chOff x="0" y="0"/>
          <a:chExt cx="0" cy="0"/>
        </a:xfrm>
      </p:grpSpPr>
      <p:sp>
        <p:nvSpPr>
          <p:cNvPr id="2" name="Text 0"/>
          <p:cNvSpPr/>
          <p:nvPr/>
        </p:nvSpPr>
        <p:spPr>
          <a:xfrm>
            <a:off x="1047750" y="3664479"/>
            <a:ext cx="17811751" cy="323850"/>
          </a:xfrm>
          <a:prstGeom prst="rect">
            <a:avLst/>
          </a:prstGeom>
          <a:noFill/>
          <a:ln/>
        </p:spPr>
        <p:txBody>
          <a:bodyPr wrap="square" lIns="25400" tIns="25400" rIns="25400" bIns="25400" rtlCol="0" anchor="t">
            <a:normAutofit/>
          </a:bodyPr>
          <a:lstStyle/>
          <a:p>
            <a:pPr algn="l" indent="0" marL="0">
              <a:buNone/>
            </a:pPr>
            <a:r>
              <a:rPr lang="en-US" sz="2100" b="1" spc="294" kern="0" dirty="0">
                <a:solidFill>
                  <a:srgbClr val="0D1424"/>
                </a:solidFill>
                <a:latin typeface="Archivo" pitchFamily="34" charset="0"/>
                <a:ea typeface="Archivo" pitchFamily="34" charset="-122"/>
                <a:cs typeface="Archivo" pitchFamily="34" charset="-120"/>
              </a:rPr>
              <a:t>PART THREE</a:t>
            </a:r>
            <a:endParaRPr lang="en-US" sz="2100" dirty="0"/>
          </a:p>
        </p:txBody>
      </p:sp>
      <p:sp>
        <p:nvSpPr>
          <p:cNvPr id="3" name="Text 1"/>
          <p:cNvSpPr/>
          <p:nvPr/>
        </p:nvSpPr>
        <p:spPr>
          <a:xfrm>
            <a:off x="1047750" y="4178763"/>
            <a:ext cx="17811751" cy="1251545"/>
          </a:xfrm>
          <a:prstGeom prst="rect">
            <a:avLst/>
          </a:prstGeom>
          <a:noFill/>
          <a:ln/>
        </p:spPr>
        <p:txBody>
          <a:bodyPr wrap="square" lIns="25400" tIns="25400" rIns="25400" bIns="25400" rtlCol="0" anchor="t">
            <a:normAutofit/>
          </a:bodyPr>
          <a:lstStyle/>
          <a:p>
            <a:pPr algn="l" indent="0" marL="0">
              <a:lnSpc>
                <a:spcPct val="89578"/>
              </a:lnSpc>
              <a:buNone/>
            </a:pPr>
            <a:r>
              <a:rPr lang="en-US" sz="9750" b="1" spc="-292" kern="0" dirty="0">
                <a:solidFill>
                  <a:srgbClr val="0D1424"/>
                </a:solidFill>
                <a:latin typeface="Archivo" pitchFamily="34" charset="0"/>
                <a:ea typeface="Archivo" pitchFamily="34" charset="-122"/>
                <a:cs typeface="Archivo" pitchFamily="34" charset="-120"/>
              </a:rPr>
              <a:t>Mockups</a:t>
            </a:r>
            <a:endParaRPr lang="en-US" sz="9750" dirty="0"/>
          </a:p>
        </p:txBody>
      </p:sp>
      <p:sp>
        <p:nvSpPr>
          <p:cNvPr id="4" name="Text 2"/>
          <p:cNvSpPr/>
          <p:nvPr/>
        </p:nvSpPr>
        <p:spPr>
          <a:xfrm>
            <a:off x="1047750" y="5715992"/>
            <a:ext cx="9418321" cy="944629"/>
          </a:xfrm>
          <a:prstGeom prst="rect">
            <a:avLst/>
          </a:prstGeom>
          <a:noFill/>
          <a:ln/>
        </p:spPr>
        <p:txBody>
          <a:bodyPr wrap="square" lIns="25400" tIns="25400" rIns="25400" bIns="25400" rtlCol="0" anchor="t">
            <a:normAutofit/>
          </a:bodyPr>
          <a:lstStyle/>
          <a:p>
            <a:pPr algn="l" indent="0" marL="0">
              <a:lnSpc>
                <a:spcPct val="115784"/>
              </a:lnSpc>
              <a:buNone/>
            </a:pPr>
            <a:r>
              <a:rPr lang="en-US" sz="2550" dirty="0">
                <a:solidFill>
                  <a:srgbClr val="0D1424"/>
                </a:solidFill>
                <a:latin typeface="Figtree" pitchFamily="34" charset="0"/>
                <a:ea typeface="Figtree" pitchFamily="34" charset="-122"/>
                <a:cs typeface="Figtree" pitchFamily="34" charset="-120"/>
              </a:rPr>
              <a:t>Three of the fixes made concrete, in your own brand. Concept renders to show direction — not final artwork.</a:t>
            </a:r>
            <a:endParaRPr lang="en-US" sz="2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1047750" y="723801"/>
            <a:ext cx="17811751" cy="2921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F59B1E"/>
                </a:solidFill>
                <a:latin typeface="Archivo" pitchFamily="34" charset="0"/>
                <a:ea typeface="Archivo" pitchFamily="34" charset="-122"/>
                <a:cs typeface="Archivo" pitchFamily="34" charset="-120"/>
              </a:rPr>
              <a:t>MOCKUP · CUSTOMER HOME</a:t>
            </a:r>
            <a:endParaRPr lang="en-US" sz="1800" dirty="0"/>
          </a:p>
        </p:txBody>
      </p:sp>
      <p:sp>
        <p:nvSpPr>
          <p:cNvPr id="3" name="Text 1"/>
          <p:cNvSpPr/>
          <p:nvPr/>
        </p:nvSpPr>
        <p:spPr>
          <a:xfrm>
            <a:off x="1047750" y="1111085"/>
            <a:ext cx="17811751" cy="571566"/>
          </a:xfrm>
          <a:prstGeom prst="rect">
            <a:avLst/>
          </a:prstGeom>
          <a:noFill/>
          <a:ln/>
        </p:spPr>
        <p:txBody>
          <a:bodyPr wrap="square" lIns="25400" tIns="25400" rIns="25400" bIns="25400" rtlCol="0" anchor="t">
            <a:normAutofit/>
          </a:bodyPr>
          <a:lstStyle/>
          <a:p>
            <a:pPr algn="l" indent="0" marL="0">
              <a:lnSpc>
                <a:spcPct val="91636"/>
              </a:lnSpc>
              <a:buNone/>
            </a:pPr>
            <a:r>
              <a:rPr lang="en-US" sz="4200" b="1" spc="-84" kern="0" dirty="0">
                <a:solidFill>
                  <a:srgbClr val="0F172A"/>
                </a:solidFill>
                <a:latin typeface="Archivo" pitchFamily="34" charset="0"/>
                <a:ea typeface="Archivo" pitchFamily="34" charset="-122"/>
                <a:cs typeface="Archivo" pitchFamily="34" charset="-120"/>
              </a:rPr>
              <a:t>Icons, one accent, a real nav bar</a:t>
            </a:r>
            <a:endParaRPr lang="en-US" sz="4200" dirty="0"/>
          </a:p>
        </p:txBody>
      </p:sp>
      <p:sp>
        <p:nvSpPr>
          <p:cNvPr id="4" name="Text 2"/>
          <p:cNvSpPr/>
          <p:nvPr/>
        </p:nvSpPr>
        <p:spPr>
          <a:xfrm>
            <a:off x="932747" y="3337884"/>
            <a:ext cx="2530062" cy="260350"/>
          </a:xfrm>
          <a:prstGeom prst="rect">
            <a:avLst/>
          </a:prstGeom>
          <a:noFill/>
          <a:ln/>
        </p:spPr>
        <p:txBody>
          <a:bodyPr wrap="square" lIns="25400" tIns="25400" rIns="25400" bIns="25400" rtlCol="0" anchor="t">
            <a:normAutofit/>
          </a:bodyPr>
          <a:lstStyle/>
          <a:p>
            <a:pPr algn="ctr" indent="0" marL="0">
              <a:buNone/>
            </a:pPr>
            <a:r>
              <a:rPr lang="en-US" sz="1650" b="1" spc="165" kern="0" dirty="0">
                <a:solidFill>
                  <a:srgbClr val="8A97AE"/>
                </a:solidFill>
                <a:latin typeface="Archivo" pitchFamily="34" charset="0"/>
                <a:ea typeface="Archivo" pitchFamily="34" charset="-122"/>
                <a:cs typeface="Archivo" pitchFamily="34" charset="-120"/>
              </a:rPr>
              <a:t>BEFORE</a:t>
            </a:r>
            <a:endParaRPr lang="en-US" sz="1650" dirty="0"/>
          </a:p>
        </p:txBody>
      </p:sp>
      <p:sp>
        <p:nvSpPr>
          <p:cNvPr id="5" name="Shape 3"/>
          <p:cNvSpPr/>
          <p:nvPr/>
        </p:nvSpPr>
        <p:spPr>
          <a:xfrm>
            <a:off x="1047750" y="3693418"/>
            <a:ext cx="2300056" cy="4953000"/>
          </a:xfrm>
          <a:prstGeom prst="roundRect">
            <a:avLst>
              <a:gd name="adj" fmla="val 10767"/>
            </a:avLst>
          </a:prstGeom>
          <a:ln w="10583">
            <a:solidFill>
              <a:srgbClr val="0F172A">
                <a:alpha val="8000"/>
              </a:srgbClr>
            </a:solidFill>
            <a:prstDash val="solid"/>
          </a:ln>
          <a:effectLst>
            <a:outerShdw sx="100000" sy="100000" kx="0" ky="0" algn="bl" rotWithShape="0" blurRad="533400" dist="228600" dir="5400000">
              <a:srgbClr val="0D1424">
                <a:alpha val="22000"/>
              </a:srgbClr>
            </a:outerShdw>
          </a:effectLst>
        </p:spPr>
      </p:sp>
      <p:pic>
        <p:nvPicPr>
          <p:cNvPr id="6" name="Image 0" descr="preencoded.png">    </p:cNvPr>
          <p:cNvPicPr>
            <a:picLocks noChangeAspect="1"/>
          </p:cNvPicPr>
          <p:nvPr/>
        </p:nvPicPr>
        <p:blipFill>
          <a:blip r:embed="rId1"/>
          <a:stretch>
            <a:fillRect/>
          </a:stretch>
        </p:blipFill>
        <p:spPr>
          <a:xfrm>
            <a:off x="1047750" y="3693418"/>
            <a:ext cx="2300056" cy="4953000"/>
          </a:xfrm>
          <a:prstGeom prst="rect">
            <a:avLst/>
          </a:prstGeom>
        </p:spPr>
      </p:pic>
      <p:sp>
        <p:nvSpPr>
          <p:cNvPr id="7" name="Text 4"/>
          <p:cNvSpPr/>
          <p:nvPr/>
        </p:nvSpPr>
        <p:spPr>
          <a:xfrm>
            <a:off x="3614151" y="2956884"/>
            <a:ext cx="3359167" cy="260350"/>
          </a:xfrm>
          <a:prstGeom prst="rect">
            <a:avLst/>
          </a:prstGeom>
          <a:noFill/>
          <a:ln/>
        </p:spPr>
        <p:txBody>
          <a:bodyPr wrap="square" lIns="25400" tIns="25400" rIns="25400" bIns="25400" rtlCol="0" anchor="t">
            <a:normAutofit/>
          </a:bodyPr>
          <a:lstStyle/>
          <a:p>
            <a:pPr algn="ctr" indent="0" marL="0">
              <a:buNone/>
            </a:pPr>
            <a:r>
              <a:rPr lang="en-US" sz="1650" b="1" spc="165" kern="0" dirty="0">
                <a:solidFill>
                  <a:srgbClr val="E08A00"/>
                </a:solidFill>
                <a:latin typeface="Archivo" pitchFamily="34" charset="0"/>
                <a:ea typeface="Archivo" pitchFamily="34" charset="-122"/>
                <a:cs typeface="Archivo" pitchFamily="34" charset="-120"/>
              </a:rPr>
              <a:t>AFTER</a:t>
            </a:r>
            <a:endParaRPr lang="en-US" sz="1650" dirty="0"/>
          </a:p>
        </p:txBody>
      </p:sp>
      <p:sp>
        <p:nvSpPr>
          <p:cNvPr id="8" name="Shape 5"/>
          <p:cNvSpPr/>
          <p:nvPr/>
        </p:nvSpPr>
        <p:spPr>
          <a:xfrm>
            <a:off x="3766840" y="3312418"/>
            <a:ext cx="3053788" cy="5334000"/>
          </a:xfrm>
          <a:prstGeom prst="roundRect">
            <a:avLst>
              <a:gd name="adj" fmla="val 8110"/>
            </a:avLst>
          </a:prstGeom>
          <a:ln/>
          <a:effectLst>
            <a:outerShdw sx="100000" sy="100000" kx="0" ky="0" algn="bl" rotWithShape="0" blurRad="666750" dist="285750" dir="5400000">
              <a:srgbClr val="0D1424">
                <a:alpha val="30000"/>
              </a:srgbClr>
            </a:outerShdw>
          </a:effectLst>
        </p:spPr>
      </p:sp>
      <p:pic>
        <p:nvPicPr>
          <p:cNvPr id="9" name="Image 1" descr="preencoded.png">    </p:cNvPr>
          <p:cNvPicPr>
            <a:picLocks noChangeAspect="1"/>
          </p:cNvPicPr>
          <p:nvPr/>
        </p:nvPicPr>
        <p:blipFill>
          <a:blip r:embed="rId2"/>
          <a:stretch>
            <a:fillRect/>
          </a:stretch>
        </p:blipFill>
        <p:spPr>
          <a:xfrm>
            <a:off x="3766840" y="3312418"/>
            <a:ext cx="3053788" cy="5334000"/>
          </a:xfrm>
          <a:prstGeom prst="rect">
            <a:avLst/>
          </a:prstGeom>
        </p:spPr>
      </p:pic>
      <p:sp>
        <p:nvSpPr>
          <p:cNvPr id="10" name="Text 6"/>
          <p:cNvSpPr/>
          <p:nvPr/>
        </p:nvSpPr>
        <p:spPr>
          <a:xfrm>
            <a:off x="7541572" y="4651706"/>
            <a:ext cx="10649212" cy="452338"/>
          </a:xfrm>
          <a:prstGeom prst="rect">
            <a:avLst/>
          </a:prstGeom>
          <a:noFill/>
          <a:ln/>
        </p:spPr>
        <p:txBody>
          <a:bodyPr wrap="square" lIns="25400" tIns="25400" rIns="25400" bIns="25400" rtlCol="0" anchor="t">
            <a:normAutofit/>
          </a:bodyPr>
          <a:lstStyle/>
          <a:p>
            <a:pPr algn="l" marL="193358" indent="-193358">
              <a:lnSpc>
                <a:spcPct val="122344"/>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One consistent line-icon set replaces mixed emoji.</a:t>
            </a:r>
            <a:endParaRPr lang="en-US" sz="2175" dirty="0"/>
          </a:p>
        </p:txBody>
      </p:sp>
      <p:sp>
        <p:nvSpPr>
          <p:cNvPr id="11" name="Text 7"/>
          <p:cNvSpPr/>
          <p:nvPr/>
        </p:nvSpPr>
        <p:spPr>
          <a:xfrm>
            <a:off x="7541572" y="5237262"/>
            <a:ext cx="10649212" cy="452338"/>
          </a:xfrm>
          <a:prstGeom prst="rect">
            <a:avLst/>
          </a:prstGeom>
          <a:noFill/>
          <a:ln/>
        </p:spPr>
        <p:txBody>
          <a:bodyPr wrap="square" lIns="25400" tIns="25400" rIns="25400" bIns="25400" rtlCol="0" anchor="t">
            <a:normAutofit/>
          </a:bodyPr>
          <a:lstStyle/>
          <a:p>
            <a:pPr algn="l" marL="193358" indent="-193358">
              <a:lnSpc>
                <a:spcPct val="122344"/>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Amber only — the stray blue is gone.</a:t>
            </a:r>
            <a:endParaRPr lang="en-US" sz="2175" dirty="0"/>
          </a:p>
        </p:txBody>
      </p:sp>
      <p:sp>
        <p:nvSpPr>
          <p:cNvPr id="12" name="Text 8"/>
          <p:cNvSpPr/>
          <p:nvPr/>
        </p:nvSpPr>
        <p:spPr>
          <a:xfrm>
            <a:off x="7541572" y="5822818"/>
            <a:ext cx="10649212" cy="452338"/>
          </a:xfrm>
          <a:prstGeom prst="rect">
            <a:avLst/>
          </a:prstGeom>
          <a:noFill/>
          <a:ln/>
        </p:spPr>
        <p:txBody>
          <a:bodyPr wrap="square" lIns="25400" tIns="25400" rIns="25400" bIns="25400" rtlCol="0" anchor="t">
            <a:normAutofit/>
          </a:bodyPr>
          <a:lstStyle/>
          <a:p>
            <a:pPr algn="l" marL="193358" indent="-193358">
              <a:lnSpc>
                <a:spcPct val="122344"/>
              </a:lnSpc>
              <a:buSzPct val="100000"/>
              <a:buChar char="•"/>
            </a:pPr>
            <a:r>
              <a:rPr lang="en-US" sz="2175" dirty="0">
                <a:solidFill>
                  <a:srgbClr val="43506B"/>
                </a:solidFill>
                <a:latin typeface="Figtree" pitchFamily="34" charset="0"/>
                <a:ea typeface="Figtree" pitchFamily="34" charset="-122"/>
                <a:cs typeface="Figtree" pitchFamily="34" charset="-120"/>
              </a:rPr>
              <a:t>Bottom nav has real icons </a:t>
            </a:r>
            <a:pPr algn="l" indent="0" marL="0">
              <a:lnSpc>
                <a:spcPct val="122344"/>
              </a:lnSpc>
              <a:buNone/>
            </a:pPr>
            <a:r>
              <a:rPr lang="en-US" sz="2175" b="1" dirty="0">
                <a:solidFill>
                  <a:srgbClr val="43506B"/>
                </a:solidFill>
                <a:latin typeface="Figtree" pitchFamily="34" charset="0"/>
                <a:ea typeface="Figtree" pitchFamily="34" charset="-122"/>
                <a:cs typeface="Figtree" pitchFamily="34" charset="-120"/>
              </a:rPr>
              <a:t>and </a:t>
            </a:r>
            <a:pPr algn="l" indent="0" marL="0">
              <a:lnSpc>
                <a:spcPct val="122344"/>
              </a:lnSpc>
              <a:buNone/>
            </a:pPr>
            <a:r>
              <a:rPr lang="en-US" sz="2175" dirty="0">
                <a:solidFill>
                  <a:srgbClr val="43506B"/>
                </a:solidFill>
                <a:latin typeface="Figtree" pitchFamily="34" charset="0"/>
                <a:ea typeface="Figtree" pitchFamily="34" charset="-122"/>
                <a:cs typeface="Figtree" pitchFamily="34" charset="-120"/>
              </a:rPr>
              <a:t>labels.</a:t>
            </a:r>
            <a:endParaRPr lang="en-US" sz="2175" dirty="0"/>
          </a:p>
        </p:txBody>
      </p:sp>
      <p:sp>
        <p:nvSpPr>
          <p:cNvPr id="13" name="Text 9"/>
          <p:cNvSpPr/>
          <p:nvPr/>
        </p:nvSpPr>
        <p:spPr>
          <a:xfrm>
            <a:off x="7541572" y="6408374"/>
            <a:ext cx="10649212" cy="452338"/>
          </a:xfrm>
          <a:prstGeom prst="rect">
            <a:avLst/>
          </a:prstGeom>
          <a:noFill/>
          <a:ln/>
        </p:spPr>
        <p:txBody>
          <a:bodyPr wrap="square" lIns="25400" tIns="25400" rIns="25400" bIns="25400" rtlCol="0" anchor="t">
            <a:normAutofit/>
          </a:bodyPr>
          <a:lstStyle/>
          <a:p>
            <a:pPr algn="l" marL="193358" indent="-193358">
              <a:lnSpc>
                <a:spcPct val="122344"/>
              </a:lnSpc>
              <a:buSzPct val="100000"/>
              <a:buChar char="•"/>
            </a:pPr>
            <a:r>
              <a:rPr lang="en-US" sz="2175" dirty="0">
                <a:solidFill>
                  <a:srgbClr val="43506B"/>
                </a:solidFill>
                <a:latin typeface="Figtree" pitchFamily="34" charset="0"/>
                <a:ea typeface="Figtree" pitchFamily="34" charset="-122"/>
                <a:cs typeface="Figtree" pitchFamily="34" charset="-120"/>
              </a:rPr>
              <a:t>Live proof up top: </a:t>
            </a:r>
            <a:pPr algn="l" indent="0" marL="0">
              <a:lnSpc>
                <a:spcPct val="122344"/>
              </a:lnSpc>
              <a:buNone/>
            </a:pPr>
            <a:r>
              <a:rPr lang="en-US" sz="2175" i="1" dirty="0">
                <a:solidFill>
                  <a:srgbClr val="43506B"/>
                </a:solidFill>
                <a:latin typeface="Figtree" pitchFamily="34" charset="0"/>
                <a:ea typeface="Figtree" pitchFamily="34" charset="-122"/>
                <a:cs typeface="Figtree" pitchFamily="34" charset="-120"/>
              </a:rPr>
              <a:t>12 verified · ~8 min · from $89</a:t>
            </a:r>
            <a:pPr algn="l" indent="0" marL="0">
              <a:lnSpc>
                <a:spcPct val="122344"/>
              </a:lnSpc>
              <a:buNone/>
            </a:pPr>
            <a:r>
              <a:rPr lang="en-US" sz="2175" dirty="0">
                <a:solidFill>
                  <a:srgbClr val="43506B"/>
                </a:solidFill>
                <a:latin typeface="Figtree" pitchFamily="34" charset="0"/>
                <a:ea typeface="Figtree" pitchFamily="34" charset="-122"/>
                <a:cs typeface="Figtree" pitchFamily="34" charset="-120"/>
              </a:rPr>
              <a:t>.</a:t>
            </a:r>
            <a:endParaRPr lang="en-US" sz="217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1047750" y="723801"/>
            <a:ext cx="17811751" cy="2921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F59B1E"/>
                </a:solidFill>
                <a:latin typeface="Archivo" pitchFamily="34" charset="0"/>
                <a:ea typeface="Archivo" pitchFamily="34" charset="-122"/>
                <a:cs typeface="Archivo" pitchFamily="34" charset="-120"/>
              </a:rPr>
              <a:t>MOCKUP · CONFIRM STEP</a:t>
            </a:r>
            <a:endParaRPr lang="en-US" sz="1800" dirty="0"/>
          </a:p>
        </p:txBody>
      </p:sp>
      <p:sp>
        <p:nvSpPr>
          <p:cNvPr id="3" name="Text 1"/>
          <p:cNvSpPr/>
          <p:nvPr/>
        </p:nvSpPr>
        <p:spPr>
          <a:xfrm>
            <a:off x="1047750" y="1111085"/>
            <a:ext cx="17811751" cy="571566"/>
          </a:xfrm>
          <a:prstGeom prst="rect">
            <a:avLst/>
          </a:prstGeom>
          <a:noFill/>
          <a:ln/>
        </p:spPr>
        <p:txBody>
          <a:bodyPr wrap="square" lIns="25400" tIns="25400" rIns="25400" bIns="25400" rtlCol="0" anchor="t">
            <a:normAutofit/>
          </a:bodyPr>
          <a:lstStyle/>
          <a:p>
            <a:pPr algn="l" indent="0" marL="0">
              <a:lnSpc>
                <a:spcPct val="91636"/>
              </a:lnSpc>
              <a:buNone/>
            </a:pPr>
            <a:r>
              <a:rPr lang="en-US" sz="4200" b="1" spc="-84" kern="0" dirty="0">
                <a:solidFill>
                  <a:srgbClr val="0F172A"/>
                </a:solidFill>
                <a:latin typeface="Archivo" pitchFamily="34" charset="0"/>
                <a:ea typeface="Archivo" pitchFamily="34" charset="-122"/>
                <a:cs typeface="Archivo" pitchFamily="34" charset="-120"/>
              </a:rPr>
              <a:t>Show ETA, price &amp; trust before commit</a:t>
            </a:r>
            <a:endParaRPr lang="en-US" sz="4200" dirty="0"/>
          </a:p>
        </p:txBody>
      </p:sp>
      <p:sp>
        <p:nvSpPr>
          <p:cNvPr id="4" name="Text 2"/>
          <p:cNvSpPr/>
          <p:nvPr/>
        </p:nvSpPr>
        <p:spPr>
          <a:xfrm>
            <a:off x="932747" y="3337884"/>
            <a:ext cx="2530062" cy="260350"/>
          </a:xfrm>
          <a:prstGeom prst="rect">
            <a:avLst/>
          </a:prstGeom>
          <a:noFill/>
          <a:ln/>
        </p:spPr>
        <p:txBody>
          <a:bodyPr wrap="square" lIns="25400" tIns="25400" rIns="25400" bIns="25400" rtlCol="0" anchor="t">
            <a:normAutofit/>
          </a:bodyPr>
          <a:lstStyle/>
          <a:p>
            <a:pPr algn="ctr" indent="0" marL="0">
              <a:buNone/>
            </a:pPr>
            <a:r>
              <a:rPr lang="en-US" sz="1650" b="1" spc="165" kern="0" dirty="0">
                <a:solidFill>
                  <a:srgbClr val="8A97AE"/>
                </a:solidFill>
                <a:latin typeface="Archivo" pitchFamily="34" charset="0"/>
                <a:ea typeface="Archivo" pitchFamily="34" charset="-122"/>
                <a:cs typeface="Archivo" pitchFamily="34" charset="-120"/>
              </a:rPr>
              <a:t>BEFORE</a:t>
            </a:r>
            <a:endParaRPr lang="en-US" sz="1650" dirty="0"/>
          </a:p>
        </p:txBody>
      </p:sp>
      <p:sp>
        <p:nvSpPr>
          <p:cNvPr id="5" name="Shape 3"/>
          <p:cNvSpPr/>
          <p:nvPr/>
        </p:nvSpPr>
        <p:spPr>
          <a:xfrm>
            <a:off x="1047750" y="3693418"/>
            <a:ext cx="2300056" cy="4953000"/>
          </a:xfrm>
          <a:prstGeom prst="roundRect">
            <a:avLst>
              <a:gd name="adj" fmla="val 10767"/>
            </a:avLst>
          </a:prstGeom>
          <a:ln w="10583">
            <a:solidFill>
              <a:srgbClr val="0F172A">
                <a:alpha val="8000"/>
              </a:srgbClr>
            </a:solidFill>
            <a:prstDash val="solid"/>
          </a:ln>
          <a:effectLst>
            <a:outerShdw sx="100000" sy="100000" kx="0" ky="0" algn="bl" rotWithShape="0" blurRad="533400" dist="228600" dir="5400000">
              <a:srgbClr val="0D1424">
                <a:alpha val="22000"/>
              </a:srgbClr>
            </a:outerShdw>
          </a:effectLst>
        </p:spPr>
      </p:sp>
      <p:pic>
        <p:nvPicPr>
          <p:cNvPr id="6" name="Image 0" descr="preencoded.png">    </p:cNvPr>
          <p:cNvPicPr>
            <a:picLocks noChangeAspect="1"/>
          </p:cNvPicPr>
          <p:nvPr/>
        </p:nvPicPr>
        <p:blipFill>
          <a:blip r:embed="rId1"/>
          <a:stretch>
            <a:fillRect/>
          </a:stretch>
        </p:blipFill>
        <p:spPr>
          <a:xfrm>
            <a:off x="1047750" y="3693418"/>
            <a:ext cx="2300056" cy="4953000"/>
          </a:xfrm>
          <a:prstGeom prst="rect">
            <a:avLst/>
          </a:prstGeom>
        </p:spPr>
      </p:pic>
      <p:sp>
        <p:nvSpPr>
          <p:cNvPr id="7" name="Text 4"/>
          <p:cNvSpPr/>
          <p:nvPr/>
        </p:nvSpPr>
        <p:spPr>
          <a:xfrm>
            <a:off x="3606602" y="2956884"/>
            <a:ext cx="3525242" cy="260350"/>
          </a:xfrm>
          <a:prstGeom prst="rect">
            <a:avLst/>
          </a:prstGeom>
          <a:noFill/>
          <a:ln/>
        </p:spPr>
        <p:txBody>
          <a:bodyPr wrap="square" lIns="25400" tIns="25400" rIns="25400" bIns="25400" rtlCol="0" anchor="t">
            <a:normAutofit/>
          </a:bodyPr>
          <a:lstStyle/>
          <a:p>
            <a:pPr algn="ctr" indent="0" marL="0">
              <a:buNone/>
            </a:pPr>
            <a:r>
              <a:rPr lang="en-US" sz="1650" b="1" spc="165" kern="0" dirty="0">
                <a:solidFill>
                  <a:srgbClr val="E08A00"/>
                </a:solidFill>
                <a:latin typeface="Archivo" pitchFamily="34" charset="0"/>
                <a:ea typeface="Archivo" pitchFamily="34" charset="-122"/>
                <a:cs typeface="Archivo" pitchFamily="34" charset="-120"/>
              </a:rPr>
              <a:t>AFTER</a:t>
            </a:r>
            <a:endParaRPr lang="en-US" sz="1650" dirty="0"/>
          </a:p>
        </p:txBody>
      </p:sp>
      <p:sp>
        <p:nvSpPr>
          <p:cNvPr id="8" name="Shape 5"/>
          <p:cNvSpPr/>
          <p:nvPr/>
        </p:nvSpPr>
        <p:spPr>
          <a:xfrm>
            <a:off x="3766840" y="3312418"/>
            <a:ext cx="3204766" cy="5334000"/>
          </a:xfrm>
          <a:prstGeom prst="roundRect">
            <a:avLst>
              <a:gd name="adj" fmla="val 7728"/>
            </a:avLst>
          </a:prstGeom>
          <a:ln/>
          <a:effectLst>
            <a:outerShdw sx="100000" sy="100000" kx="0" ky="0" algn="bl" rotWithShape="0" blurRad="666750" dist="285750" dir="5400000">
              <a:srgbClr val="0D1424">
                <a:alpha val="30000"/>
              </a:srgbClr>
            </a:outerShdw>
          </a:effectLst>
        </p:spPr>
      </p:sp>
      <p:pic>
        <p:nvPicPr>
          <p:cNvPr id="9" name="Image 1" descr="preencoded.png">    </p:cNvPr>
          <p:cNvPicPr>
            <a:picLocks noChangeAspect="1"/>
          </p:cNvPicPr>
          <p:nvPr/>
        </p:nvPicPr>
        <p:blipFill>
          <a:blip r:embed="rId2"/>
          <a:stretch>
            <a:fillRect/>
          </a:stretch>
        </p:blipFill>
        <p:spPr>
          <a:xfrm>
            <a:off x="3766840" y="3312418"/>
            <a:ext cx="3204766" cy="5334000"/>
          </a:xfrm>
          <a:prstGeom prst="rect">
            <a:avLst/>
          </a:prstGeom>
        </p:spPr>
      </p:pic>
      <p:sp>
        <p:nvSpPr>
          <p:cNvPr id="10" name="Text 6"/>
          <p:cNvSpPr/>
          <p:nvPr/>
        </p:nvSpPr>
        <p:spPr>
          <a:xfrm>
            <a:off x="7692549" y="4651706"/>
            <a:ext cx="10483136" cy="452338"/>
          </a:xfrm>
          <a:prstGeom prst="rect">
            <a:avLst/>
          </a:prstGeom>
          <a:noFill/>
          <a:ln/>
        </p:spPr>
        <p:txBody>
          <a:bodyPr wrap="square" lIns="25400" tIns="25400" rIns="25400" bIns="25400" rtlCol="0" anchor="t">
            <a:normAutofit/>
          </a:bodyPr>
          <a:lstStyle/>
          <a:p>
            <a:pPr algn="l" marL="193358" indent="-193358">
              <a:lnSpc>
                <a:spcPct val="122344"/>
              </a:lnSpc>
              <a:buSzPct val="100000"/>
              <a:buChar char="•"/>
            </a:pPr>
            <a:r>
              <a:rPr lang="en-US" sz="2175" b="1" dirty="0">
                <a:solidFill>
                  <a:srgbClr val="43506B"/>
                </a:solidFill>
                <a:latin typeface="Figtree" pitchFamily="34" charset="0"/>
                <a:ea typeface="Figtree" pitchFamily="34" charset="-122"/>
                <a:cs typeface="Figtree" pitchFamily="34" charset="-120"/>
              </a:rPr>
              <a:t>~8 min </a:t>
            </a:r>
            <a:pPr algn="l" indent="0" marL="0">
              <a:lnSpc>
                <a:spcPct val="122344"/>
              </a:lnSpc>
              <a:buNone/>
            </a:pPr>
            <a:r>
              <a:rPr lang="en-US" sz="2175" dirty="0">
                <a:solidFill>
                  <a:srgbClr val="43506B"/>
                </a:solidFill>
                <a:latin typeface="Figtree" pitchFamily="34" charset="0"/>
                <a:ea typeface="Figtree" pitchFamily="34" charset="-122"/>
                <a:cs typeface="Figtree" pitchFamily="34" charset="-120"/>
              </a:rPr>
              <a:t>ETA and a </a:t>
            </a:r>
            <a:pPr algn="l" indent="0" marL="0">
              <a:lnSpc>
                <a:spcPct val="122344"/>
              </a:lnSpc>
              <a:buNone/>
            </a:pPr>
            <a:r>
              <a:rPr lang="en-US" sz="2175" b="1" dirty="0">
                <a:solidFill>
                  <a:srgbClr val="43506B"/>
                </a:solidFill>
                <a:latin typeface="Figtree" pitchFamily="34" charset="0"/>
                <a:ea typeface="Figtree" pitchFamily="34" charset="-122"/>
                <a:cs typeface="Figtree" pitchFamily="34" charset="-120"/>
              </a:rPr>
              <a:t>from-price </a:t>
            </a:r>
            <a:pPr algn="l" indent="0" marL="0">
              <a:lnSpc>
                <a:spcPct val="122344"/>
              </a:lnSpc>
              <a:buNone/>
            </a:pPr>
            <a:r>
              <a:rPr lang="en-US" sz="2175" dirty="0">
                <a:solidFill>
                  <a:srgbClr val="43506B"/>
                </a:solidFill>
                <a:latin typeface="Figtree" pitchFamily="34" charset="0"/>
                <a:ea typeface="Figtree" pitchFamily="34" charset="-122"/>
                <a:cs typeface="Figtree" pitchFamily="34" charset="-120"/>
              </a:rPr>
              <a:t>shown before commit.</a:t>
            </a:r>
            <a:endParaRPr lang="en-US" sz="2175" dirty="0"/>
          </a:p>
        </p:txBody>
      </p:sp>
      <p:sp>
        <p:nvSpPr>
          <p:cNvPr id="11" name="Text 7"/>
          <p:cNvSpPr/>
          <p:nvPr/>
        </p:nvSpPr>
        <p:spPr>
          <a:xfrm>
            <a:off x="7692549" y="5237262"/>
            <a:ext cx="10483136" cy="452338"/>
          </a:xfrm>
          <a:prstGeom prst="rect">
            <a:avLst/>
          </a:prstGeom>
          <a:noFill/>
          <a:ln/>
        </p:spPr>
        <p:txBody>
          <a:bodyPr wrap="square" lIns="25400" tIns="25400" rIns="25400" bIns="25400" rtlCol="0" anchor="t">
            <a:normAutofit/>
          </a:bodyPr>
          <a:lstStyle/>
          <a:p>
            <a:pPr algn="l" marL="193358" indent="-193358">
              <a:lnSpc>
                <a:spcPct val="122344"/>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The matched pro's rating, jobs done &amp; licence badge.</a:t>
            </a:r>
            <a:endParaRPr lang="en-US" sz="2175" dirty="0"/>
          </a:p>
        </p:txBody>
      </p:sp>
      <p:sp>
        <p:nvSpPr>
          <p:cNvPr id="12" name="Text 8"/>
          <p:cNvSpPr/>
          <p:nvPr/>
        </p:nvSpPr>
        <p:spPr>
          <a:xfrm>
            <a:off x="7692549" y="5822818"/>
            <a:ext cx="10483136" cy="452338"/>
          </a:xfrm>
          <a:prstGeom prst="rect">
            <a:avLst/>
          </a:prstGeom>
          <a:noFill/>
          <a:ln/>
        </p:spPr>
        <p:txBody>
          <a:bodyPr wrap="square" lIns="25400" tIns="25400" rIns="25400" bIns="25400" rtlCol="0" anchor="t">
            <a:normAutofit/>
          </a:bodyPr>
          <a:lstStyle/>
          <a:p>
            <a:pPr algn="l" marL="193358" indent="-193358">
              <a:lnSpc>
                <a:spcPct val="122344"/>
              </a:lnSpc>
              <a:buSzPct val="100000"/>
              <a:buChar char="•"/>
              <a:tabLst>
                <a:tab pos="193358" algn="l"/>
              </a:tabLst>
            </a:pPr>
            <a:r>
              <a:rPr lang="en-US" sz="2175" dirty="0">
                <a:solidFill>
                  <a:srgbClr val="43506B"/>
                </a:solidFill>
                <a:latin typeface="Figtree" pitchFamily="34" charset="0"/>
                <a:ea typeface="Figtree" pitchFamily="34" charset="-122"/>
                <a:cs typeface="Figtree" pitchFamily="34" charset="-120"/>
              </a:rPr>
              <a:t>"Rate locked upfront — no quotes, no surprises."</a:t>
            </a:r>
            <a:endParaRPr lang="en-US" sz="2175" dirty="0"/>
          </a:p>
        </p:txBody>
      </p:sp>
      <p:sp>
        <p:nvSpPr>
          <p:cNvPr id="13" name="Text 9"/>
          <p:cNvSpPr/>
          <p:nvPr/>
        </p:nvSpPr>
        <p:spPr>
          <a:xfrm>
            <a:off x="7692549" y="6408374"/>
            <a:ext cx="10483136" cy="452338"/>
          </a:xfrm>
          <a:prstGeom prst="rect">
            <a:avLst/>
          </a:prstGeom>
          <a:noFill/>
          <a:ln/>
        </p:spPr>
        <p:txBody>
          <a:bodyPr wrap="square" lIns="25400" tIns="25400" rIns="25400" bIns="25400" rtlCol="0" anchor="t">
            <a:normAutofit/>
          </a:bodyPr>
          <a:lstStyle/>
          <a:p>
            <a:pPr algn="l" marL="193358" indent="-193358">
              <a:lnSpc>
                <a:spcPct val="122344"/>
              </a:lnSpc>
              <a:buSzPct val="100000"/>
              <a:buChar char="•"/>
            </a:pPr>
            <a:r>
              <a:rPr lang="en-US" sz="2175" dirty="0">
                <a:solidFill>
                  <a:srgbClr val="43506B"/>
                </a:solidFill>
                <a:latin typeface="Figtree" pitchFamily="34" charset="0"/>
                <a:ea typeface="Figtree" pitchFamily="34" charset="-122"/>
                <a:cs typeface="Figtree" pitchFamily="34" charset="-120"/>
              </a:rPr>
              <a:t>CTA carries it: </a:t>
            </a:r>
            <a:pPr algn="l" indent="0" marL="0">
              <a:lnSpc>
                <a:spcPct val="122344"/>
              </a:lnSpc>
              <a:buNone/>
            </a:pPr>
            <a:r>
              <a:rPr lang="en-US" sz="2175" i="1" dirty="0">
                <a:solidFill>
                  <a:srgbClr val="43506B"/>
                </a:solidFill>
                <a:latin typeface="Figtree" pitchFamily="34" charset="0"/>
                <a:ea typeface="Figtree" pitchFamily="34" charset="-122"/>
                <a:cs typeface="Figtree" pitchFamily="34" charset="-120"/>
              </a:rPr>
              <a:t>Confirm · Mike arrives ~8 min</a:t>
            </a:r>
            <a:pPr algn="l" indent="0" marL="0">
              <a:lnSpc>
                <a:spcPct val="122344"/>
              </a:lnSpc>
              <a:buNone/>
            </a:pPr>
            <a:r>
              <a:rPr lang="en-US" sz="2175" dirty="0">
                <a:solidFill>
                  <a:srgbClr val="43506B"/>
                </a:solidFill>
                <a:latin typeface="Figtree" pitchFamily="34" charset="0"/>
                <a:ea typeface="Figtree" pitchFamily="34" charset="-122"/>
                <a:cs typeface="Figtree" pitchFamily="34" charset="-120"/>
              </a:rPr>
              <a:t>.</a:t>
            </a:r>
            <a:endParaRPr lang="en-US" sz="217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B"/>
        </a:solidFill>
      </p:bgPr>
    </p:bg>
    <p:spTree>
      <p:nvGrpSpPr>
        <p:cNvPr id="1" name=""/>
        <p:cNvGrpSpPr/>
        <p:nvPr/>
      </p:nvGrpSpPr>
      <p:grpSpPr>
        <a:xfrm>
          <a:off x="0" y="0"/>
          <a:ext cx="0" cy="0"/>
          <a:chOff x="0" y="0"/>
          <a:chExt cx="0" cy="0"/>
        </a:xfrm>
      </p:grpSpPr>
      <p:sp>
        <p:nvSpPr>
          <p:cNvPr id="2" name="Text 0"/>
          <p:cNvSpPr/>
          <p:nvPr/>
        </p:nvSpPr>
        <p:spPr>
          <a:xfrm>
            <a:off x="1047750" y="723801"/>
            <a:ext cx="17811751" cy="2921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F59B1E"/>
                </a:solidFill>
                <a:latin typeface="Archivo" pitchFamily="34" charset="0"/>
                <a:ea typeface="Archivo" pitchFamily="34" charset="-122"/>
                <a:cs typeface="Archivo" pitchFamily="34" charset="-120"/>
              </a:rPr>
              <a:t>MOCKUP · COMPANY PORTAL</a:t>
            </a:r>
            <a:endParaRPr lang="en-US" sz="1800" dirty="0"/>
          </a:p>
        </p:txBody>
      </p:sp>
      <p:sp>
        <p:nvSpPr>
          <p:cNvPr id="3" name="Text 1"/>
          <p:cNvSpPr/>
          <p:nvPr/>
        </p:nvSpPr>
        <p:spPr>
          <a:xfrm>
            <a:off x="1047750" y="1111085"/>
            <a:ext cx="17811751" cy="571566"/>
          </a:xfrm>
          <a:prstGeom prst="rect">
            <a:avLst/>
          </a:prstGeom>
          <a:noFill/>
          <a:ln/>
        </p:spPr>
        <p:txBody>
          <a:bodyPr wrap="square" lIns="25400" tIns="25400" rIns="25400" bIns="25400" rtlCol="0" anchor="t">
            <a:normAutofit/>
          </a:bodyPr>
          <a:lstStyle/>
          <a:p>
            <a:pPr algn="l" indent="0" marL="0">
              <a:lnSpc>
                <a:spcPct val="91636"/>
              </a:lnSpc>
              <a:buNone/>
            </a:pPr>
            <a:r>
              <a:rPr lang="en-US" sz="4200" b="1" spc="-84" kern="0" dirty="0">
                <a:solidFill>
                  <a:srgbClr val="0F172A"/>
                </a:solidFill>
                <a:latin typeface="Archivo" pitchFamily="34" charset="0"/>
                <a:ea typeface="Archivo" pitchFamily="34" charset="-122"/>
                <a:cs typeface="Archivo" pitchFamily="34" charset="-120"/>
              </a:rPr>
              <a:t>Empty zeros → a path to first value</a:t>
            </a:r>
            <a:endParaRPr lang="en-US" sz="4200" dirty="0"/>
          </a:p>
        </p:txBody>
      </p:sp>
      <p:sp>
        <p:nvSpPr>
          <p:cNvPr id="4" name="Text 2"/>
          <p:cNvSpPr/>
          <p:nvPr/>
        </p:nvSpPr>
        <p:spPr>
          <a:xfrm>
            <a:off x="1047750" y="2202491"/>
            <a:ext cx="8612469" cy="260350"/>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8A97AE"/>
                </a:solidFill>
                <a:latin typeface="Archivo" pitchFamily="34" charset="0"/>
                <a:ea typeface="Archivo" pitchFamily="34" charset="-122"/>
                <a:cs typeface="Archivo" pitchFamily="34" charset="-120"/>
              </a:rPr>
              <a:t>BEFORE</a:t>
            </a:r>
            <a:endParaRPr lang="en-US" sz="1650" dirty="0"/>
          </a:p>
        </p:txBody>
      </p:sp>
      <p:sp>
        <p:nvSpPr>
          <p:cNvPr id="5" name="Shape 3"/>
          <p:cNvSpPr/>
          <p:nvPr/>
        </p:nvSpPr>
        <p:spPr>
          <a:xfrm>
            <a:off x="1047750" y="2539008"/>
            <a:ext cx="7829517" cy="5267358"/>
          </a:xfrm>
          <a:prstGeom prst="roundRect">
            <a:avLst>
              <a:gd name="adj" fmla="val 2893"/>
            </a:avLst>
          </a:prstGeom>
          <a:ln w="10583">
            <a:solidFill>
              <a:srgbClr val="0F172A">
                <a:alpha val="8000"/>
              </a:srgbClr>
            </a:solidFill>
            <a:prstDash val="solid"/>
          </a:ln>
          <a:effectLst>
            <a:outerShdw sx="100000" sy="100000" kx="0" ky="0" algn="bl" rotWithShape="0" blurRad="419100" dist="171450" dir="5400000">
              <a:srgbClr val="0D1424">
                <a:alpha val="18000"/>
              </a:srgbClr>
            </a:outerShdw>
          </a:effectLst>
        </p:spPr>
      </p:sp>
      <p:pic>
        <p:nvPicPr>
          <p:cNvPr id="6" name="Image 0" descr="preencoded.png">    </p:cNvPr>
          <p:cNvPicPr>
            <a:picLocks noChangeAspect="1"/>
          </p:cNvPicPr>
          <p:nvPr/>
        </p:nvPicPr>
        <p:blipFill>
          <a:blip r:embed="rId1"/>
          <a:stretch>
            <a:fillRect/>
          </a:stretch>
        </p:blipFill>
        <p:spPr>
          <a:xfrm>
            <a:off x="1047750" y="2539008"/>
            <a:ext cx="7829517" cy="5267358"/>
          </a:xfrm>
          <a:prstGeom prst="rect">
            <a:avLst/>
          </a:prstGeom>
        </p:spPr>
      </p:pic>
      <p:sp>
        <p:nvSpPr>
          <p:cNvPr id="7" name="Text 4"/>
          <p:cNvSpPr/>
          <p:nvPr/>
        </p:nvSpPr>
        <p:spPr>
          <a:xfrm>
            <a:off x="1096261" y="8077234"/>
            <a:ext cx="8541105" cy="410832"/>
          </a:xfrm>
          <a:prstGeom prst="rect">
            <a:avLst/>
          </a:prstGeom>
          <a:noFill/>
          <a:ln/>
        </p:spPr>
        <p:txBody>
          <a:bodyPr wrap="square" lIns="25400" tIns="25400" rIns="25400" bIns="25400" rtlCol="0" anchor="t">
            <a:normAutofit/>
          </a:bodyPr>
          <a:lstStyle/>
          <a:p>
            <a:pPr algn="l" marL="180023" indent="-180023">
              <a:lnSpc>
                <a:spcPct val="121500"/>
              </a:lnSpc>
              <a:buSzPct val="100000"/>
              <a:buChar char="•"/>
              <a:tabLst>
                <a:tab pos="180023" algn="l"/>
              </a:tabLst>
            </a:pPr>
            <a:r>
              <a:rPr lang="en-US" sz="2025" dirty="0">
                <a:solidFill>
                  <a:srgbClr val="43506B"/>
                </a:solidFill>
                <a:latin typeface="Figtree" pitchFamily="34" charset="0"/>
                <a:ea typeface="Figtree" pitchFamily="34" charset="-122"/>
                <a:cs typeface="Figtree" pitchFamily="34" charset="-120"/>
              </a:rPr>
              <a:t>Setup checklist replaces four dead zeros.</a:t>
            </a:r>
            <a:endParaRPr lang="en-US" sz="2025" dirty="0"/>
          </a:p>
        </p:txBody>
      </p:sp>
      <p:sp>
        <p:nvSpPr>
          <p:cNvPr id="8" name="Text 5"/>
          <p:cNvSpPr/>
          <p:nvPr/>
        </p:nvSpPr>
        <p:spPr>
          <a:xfrm>
            <a:off x="1096261" y="8545215"/>
            <a:ext cx="8541105" cy="410832"/>
          </a:xfrm>
          <a:prstGeom prst="rect">
            <a:avLst/>
          </a:prstGeom>
          <a:noFill/>
          <a:ln/>
        </p:spPr>
        <p:txBody>
          <a:bodyPr wrap="square" lIns="25400" tIns="25400" rIns="25400" bIns="25400" rtlCol="0" anchor="t">
            <a:normAutofit/>
          </a:bodyPr>
          <a:lstStyle/>
          <a:p>
            <a:pPr algn="l" marL="180023" indent="-180023">
              <a:lnSpc>
                <a:spcPct val="121500"/>
              </a:lnSpc>
              <a:buSzPct val="100000"/>
              <a:buChar char="•"/>
            </a:pPr>
            <a:r>
              <a:rPr lang="en-US" sz="2025" dirty="0">
                <a:solidFill>
                  <a:srgbClr val="43506B"/>
                </a:solidFill>
                <a:latin typeface="Figtree" pitchFamily="34" charset="0"/>
                <a:ea typeface="Figtree" pitchFamily="34" charset="-122"/>
                <a:cs typeface="Figtree" pitchFamily="34" charset="-120"/>
              </a:rPr>
              <a:t>One primary action: </a:t>
            </a:r>
            <a:pPr algn="l" indent="0" marL="0">
              <a:lnSpc>
                <a:spcPct val="121500"/>
              </a:lnSpc>
              <a:buNone/>
            </a:pPr>
            <a:r>
              <a:rPr lang="en-US" sz="2025" i="1" dirty="0">
                <a:solidFill>
                  <a:srgbClr val="43506B"/>
                </a:solidFill>
                <a:latin typeface="Figtree" pitchFamily="34" charset="0"/>
                <a:ea typeface="Figtree" pitchFamily="34" charset="-122"/>
                <a:cs typeface="Figtree" pitchFamily="34" charset="-120"/>
              </a:rPr>
              <a:t>Add your first tradie</a:t>
            </a:r>
            <a:pPr algn="l" indent="0" marL="0">
              <a:lnSpc>
                <a:spcPct val="121500"/>
              </a:lnSpc>
              <a:buNone/>
            </a:pPr>
            <a:r>
              <a:rPr lang="en-US" sz="2025" dirty="0">
                <a:solidFill>
                  <a:srgbClr val="43506B"/>
                </a:solidFill>
                <a:latin typeface="Figtree" pitchFamily="34" charset="0"/>
                <a:ea typeface="Figtree" pitchFamily="34" charset="-122"/>
                <a:cs typeface="Figtree" pitchFamily="34" charset="-120"/>
              </a:rPr>
              <a:t>.</a:t>
            </a:r>
            <a:endParaRPr lang="en-US" sz="2025" dirty="0"/>
          </a:p>
        </p:txBody>
      </p:sp>
      <p:sp>
        <p:nvSpPr>
          <p:cNvPr id="9" name="Text 6"/>
          <p:cNvSpPr/>
          <p:nvPr/>
        </p:nvSpPr>
        <p:spPr>
          <a:xfrm>
            <a:off x="1096261" y="9013197"/>
            <a:ext cx="8541105" cy="410832"/>
          </a:xfrm>
          <a:prstGeom prst="rect">
            <a:avLst/>
          </a:prstGeom>
          <a:noFill/>
          <a:ln/>
        </p:spPr>
        <p:txBody>
          <a:bodyPr wrap="square" lIns="25400" tIns="25400" rIns="25400" bIns="25400" rtlCol="0" anchor="t">
            <a:normAutofit/>
          </a:bodyPr>
          <a:lstStyle/>
          <a:p>
            <a:pPr algn="l" marL="180023" indent="-180023">
              <a:lnSpc>
                <a:spcPct val="121500"/>
              </a:lnSpc>
              <a:buSzPct val="100000"/>
              <a:buChar char="•"/>
              <a:tabLst>
                <a:tab pos="180023" algn="l"/>
              </a:tabLst>
            </a:pPr>
            <a:r>
              <a:rPr lang="en-US" sz="2025" dirty="0">
                <a:solidFill>
                  <a:srgbClr val="43506B"/>
                </a:solidFill>
                <a:latin typeface="Figtree" pitchFamily="34" charset="0"/>
                <a:ea typeface="Figtree" pitchFamily="34" charset="-122"/>
                <a:cs typeface="Figtree" pitchFamily="34" charset="-120"/>
              </a:rPr>
              <a:t>Dashboard unlocks on first completed job.</a:t>
            </a:r>
            <a:endParaRPr lang="en-US" sz="2025" dirty="0"/>
          </a:p>
        </p:txBody>
      </p:sp>
      <p:sp>
        <p:nvSpPr>
          <p:cNvPr id="10" name="Text 7"/>
          <p:cNvSpPr/>
          <p:nvPr/>
        </p:nvSpPr>
        <p:spPr>
          <a:xfrm>
            <a:off x="9019084" y="3264628"/>
            <a:ext cx="8612651" cy="260350"/>
          </a:xfrm>
          <a:prstGeom prst="rect">
            <a:avLst/>
          </a:prstGeom>
          <a:noFill/>
          <a:ln/>
        </p:spPr>
        <p:txBody>
          <a:bodyPr wrap="square" lIns="25400" tIns="25400" rIns="25400" bIns="25400" rtlCol="0" anchor="t">
            <a:normAutofit/>
          </a:bodyPr>
          <a:lstStyle/>
          <a:p>
            <a:pPr algn="ctr" indent="0" marL="0">
              <a:buNone/>
            </a:pPr>
            <a:r>
              <a:rPr lang="en-US" sz="1650" b="1" spc="165" kern="0" dirty="0">
                <a:solidFill>
                  <a:srgbClr val="E08A00"/>
                </a:solidFill>
                <a:latin typeface="Archivo" pitchFamily="34" charset="0"/>
                <a:ea typeface="Archivo" pitchFamily="34" charset="-122"/>
                <a:cs typeface="Archivo" pitchFamily="34" charset="-120"/>
              </a:rPr>
              <a:t>AFTER</a:t>
            </a:r>
            <a:endParaRPr lang="en-US" sz="1650" dirty="0"/>
          </a:p>
        </p:txBody>
      </p:sp>
      <p:sp>
        <p:nvSpPr>
          <p:cNvPr id="11" name="Shape 8"/>
          <p:cNvSpPr/>
          <p:nvPr/>
        </p:nvSpPr>
        <p:spPr>
          <a:xfrm>
            <a:off x="9410568" y="3601145"/>
            <a:ext cx="7829683" cy="4680314"/>
          </a:xfrm>
          <a:prstGeom prst="roundRect">
            <a:avLst>
              <a:gd name="adj" fmla="val 3663"/>
            </a:avLst>
          </a:prstGeom>
          <a:ln/>
          <a:effectLst>
            <a:outerShdw sx="100000" sy="100000" kx="0" ky="0" algn="bl" rotWithShape="0" blurRad="666750" dist="285750" dir="5400000">
              <a:srgbClr val="0D1424">
                <a:alpha val="30000"/>
              </a:srgbClr>
            </a:outerShdw>
          </a:effectLst>
        </p:spPr>
      </p:sp>
      <p:pic>
        <p:nvPicPr>
          <p:cNvPr id="12" name="Image 1" descr="preencoded.png">    </p:cNvPr>
          <p:cNvPicPr>
            <a:picLocks noChangeAspect="1"/>
          </p:cNvPicPr>
          <p:nvPr/>
        </p:nvPicPr>
        <p:blipFill>
          <a:blip r:embed="rId2"/>
          <a:stretch>
            <a:fillRect/>
          </a:stretch>
        </p:blipFill>
        <p:spPr>
          <a:xfrm>
            <a:off x="9410568" y="3601145"/>
            <a:ext cx="7829683" cy="468031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424"/>
        </a:solidFill>
      </p:bgPr>
    </p:bg>
    <p:spTree>
      <p:nvGrpSpPr>
        <p:cNvPr id="1" name=""/>
        <p:cNvGrpSpPr/>
        <p:nvPr/>
      </p:nvGrpSpPr>
      <p:grpSpPr>
        <a:xfrm>
          <a:off x="0" y="0"/>
          <a:ext cx="0" cy="0"/>
          <a:chOff x="0" y="0"/>
          <a:chExt cx="0" cy="0"/>
        </a:xfrm>
      </p:grpSpPr>
      <p:sp>
        <p:nvSpPr>
          <p:cNvPr id="2" name="Text 0"/>
          <p:cNvSpPr/>
          <p:nvPr/>
        </p:nvSpPr>
        <p:spPr>
          <a:xfrm>
            <a:off x="1047750" y="857250"/>
            <a:ext cx="17811751" cy="2921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F59B1E"/>
                </a:solidFill>
                <a:latin typeface="Archivo" pitchFamily="34" charset="0"/>
                <a:ea typeface="Archivo" pitchFamily="34" charset="-122"/>
                <a:cs typeface="Archivo" pitchFamily="34" charset="-120"/>
              </a:rPr>
              <a:t>WHAT TO DO FIRST</a:t>
            </a:r>
            <a:endParaRPr lang="en-US" sz="1800" dirty="0"/>
          </a:p>
        </p:txBody>
      </p:sp>
      <p:sp>
        <p:nvSpPr>
          <p:cNvPr id="3" name="Text 1"/>
          <p:cNvSpPr/>
          <p:nvPr/>
        </p:nvSpPr>
        <p:spPr>
          <a:xfrm>
            <a:off x="1047750" y="1301750"/>
            <a:ext cx="17811751" cy="679384"/>
          </a:xfrm>
          <a:prstGeom prst="rect">
            <a:avLst/>
          </a:prstGeom>
          <a:noFill/>
          <a:ln/>
        </p:spPr>
        <p:txBody>
          <a:bodyPr wrap="square" lIns="25400" tIns="25400" rIns="25400" bIns="25400" rtlCol="0" anchor="t">
            <a:normAutofit/>
          </a:bodyPr>
          <a:lstStyle/>
          <a:p>
            <a:pPr algn="l" indent="0" marL="0">
              <a:lnSpc>
                <a:spcPct val="94669"/>
              </a:lnSpc>
              <a:buNone/>
            </a:pPr>
            <a:r>
              <a:rPr lang="en-US" sz="4950" b="1" spc="-99" kern="0" dirty="0">
                <a:solidFill>
                  <a:srgbClr val="EAEEF6"/>
                </a:solidFill>
                <a:latin typeface="Archivo" pitchFamily="34" charset="0"/>
                <a:ea typeface="Archivo" pitchFamily="34" charset="-122"/>
                <a:cs typeface="Archivo" pitchFamily="34" charset="-120"/>
              </a:rPr>
              <a:t>Priority roadmap</a:t>
            </a:r>
            <a:endParaRPr lang="en-US" sz="4950" dirty="0"/>
          </a:p>
        </p:txBody>
      </p:sp>
      <p:sp>
        <p:nvSpPr>
          <p:cNvPr id="4" name="Shape 2"/>
          <p:cNvSpPr/>
          <p:nvPr/>
        </p:nvSpPr>
        <p:spPr>
          <a:xfrm>
            <a:off x="1047750" y="2419284"/>
            <a:ext cx="5194267" cy="7067683"/>
          </a:xfrm>
          <a:prstGeom prst="roundRect">
            <a:avLst>
              <a:gd name="adj" fmla="val 4034"/>
            </a:avLst>
          </a:prstGeom>
          <a:solidFill>
            <a:srgbClr val="17223B"/>
          </a:solidFill>
          <a:ln/>
        </p:spPr>
      </p:sp>
      <p:sp>
        <p:nvSpPr>
          <p:cNvPr id="5" name="Text 3"/>
          <p:cNvSpPr/>
          <p:nvPr/>
        </p:nvSpPr>
        <p:spPr>
          <a:xfrm>
            <a:off x="1390551" y="2800284"/>
            <a:ext cx="4959532" cy="355600"/>
          </a:xfrm>
          <a:prstGeom prst="rect">
            <a:avLst/>
          </a:prstGeom>
          <a:noFill/>
          <a:ln/>
        </p:spPr>
        <p:txBody>
          <a:bodyPr wrap="square" lIns="25400" tIns="25400" rIns="25400" bIns="25400" rtlCol="0" anchor="t">
            <a:normAutofit/>
          </a:bodyPr>
          <a:lstStyle/>
          <a:p>
            <a:pPr algn="l" indent="0" marL="0">
              <a:buNone/>
            </a:pPr>
            <a:r>
              <a:rPr lang="en-US" sz="2250" b="1" dirty="0">
                <a:solidFill>
                  <a:srgbClr val="FBB040"/>
                </a:solidFill>
                <a:latin typeface="Archivo" pitchFamily="34" charset="0"/>
                <a:ea typeface="Archivo" pitchFamily="34" charset="-122"/>
                <a:cs typeface="Archivo" pitchFamily="34" charset="-120"/>
              </a:rPr>
              <a:t>This week</a:t>
            </a:r>
            <a:endParaRPr lang="en-US" sz="2250" dirty="0"/>
          </a:p>
        </p:txBody>
      </p:sp>
      <p:sp>
        <p:nvSpPr>
          <p:cNvPr id="6" name="Text 4"/>
          <p:cNvSpPr/>
          <p:nvPr/>
        </p:nvSpPr>
        <p:spPr>
          <a:xfrm>
            <a:off x="1390551" y="3174835"/>
            <a:ext cx="4959532" cy="313267"/>
          </a:xfrm>
          <a:prstGeom prst="rect">
            <a:avLst/>
          </a:prstGeom>
          <a:noFill/>
          <a:ln/>
        </p:spPr>
        <p:txBody>
          <a:bodyPr wrap="square" lIns="25400" tIns="25400" rIns="25400" bIns="25400" rtlCol="0" anchor="t">
            <a:normAutofit/>
          </a:bodyPr>
          <a:lstStyle/>
          <a:p>
            <a:pPr algn="l" indent="0" marL="0">
              <a:buNone/>
            </a:pPr>
            <a:r>
              <a:rPr lang="en-US" sz="1800" dirty="0">
                <a:solidFill>
                  <a:srgbClr val="9AA6BC"/>
                </a:solidFill>
                <a:latin typeface="Figtree" pitchFamily="34" charset="0"/>
                <a:ea typeface="Figtree" pitchFamily="34" charset="-122"/>
                <a:cs typeface="Figtree" pitchFamily="34" charset="-120"/>
              </a:rPr>
              <a:t>Quick wins · low effort</a:t>
            </a:r>
            <a:endParaRPr lang="en-US" sz="1800" dirty="0"/>
          </a:p>
        </p:txBody>
      </p:sp>
      <p:sp>
        <p:nvSpPr>
          <p:cNvPr id="7" name="Text 5"/>
          <p:cNvSpPr/>
          <p:nvPr/>
        </p:nvSpPr>
        <p:spPr>
          <a:xfrm>
            <a:off x="1445730" y="3678535"/>
            <a:ext cx="4529687" cy="1419391"/>
          </a:xfrm>
          <a:prstGeom prst="rect">
            <a:avLst/>
          </a:prstGeom>
          <a:noFill/>
          <a:ln/>
        </p:spPr>
        <p:txBody>
          <a:bodyPr wrap="square" lIns="25400" tIns="25400" rIns="25400" bIns="25400" rtlCol="0" anchor="t">
            <a:normAutofit/>
          </a:bodyPr>
          <a:lstStyle/>
          <a:p>
            <a:pPr algn="l" marL="173355" indent="-173355">
              <a:lnSpc>
                <a:spcPct val="125357"/>
              </a:lnSpc>
              <a:buSzPct val="100000"/>
              <a:buChar char="•"/>
              <a:tabLst>
                <a:tab pos="173355" algn="l"/>
              </a:tabLst>
            </a:pPr>
            <a:r>
              <a:rPr lang="en-US" sz="1950" dirty="0">
                <a:solidFill>
                  <a:srgbClr val="DDE3EE"/>
                </a:solidFill>
                <a:latin typeface="Figtree" pitchFamily="34" charset="0"/>
                <a:ea typeface="Figtree" pitchFamily="34" charset="-122"/>
                <a:cs typeface="Figtree" pitchFamily="34" charset="-120"/>
              </a:rPr>
              <a:t>Fix nav icons + labels</a:t>
            </a:r>
            <a:endParaRPr lang="en-US" sz="1950" dirty="0"/>
          </a:p>
          <a:p>
            <a:pPr algn="l" marL="173355" indent="-173355">
              <a:lnSpc>
                <a:spcPct val="125357"/>
              </a:lnSpc>
              <a:buSzPct val="100000"/>
              <a:buChar char="•"/>
              <a:tabLst>
                <a:tab pos="173355" algn="l"/>
              </a:tabLst>
            </a:pPr>
            <a:r>
              <a:rPr lang="en-US" sz="1950" dirty="0">
                <a:solidFill>
                  <a:srgbClr val="DDE3EE"/>
                </a:solidFill>
                <a:latin typeface="Figtree" pitchFamily="34" charset="0"/>
                <a:ea typeface="Figtree" pitchFamily="34" charset="-122"/>
                <a:cs typeface="Figtree" pitchFamily="34" charset="-120"/>
              </a:rPr>
              <a:t>Unify on amber; drop stray blue</a:t>
            </a:r>
            <a:endParaRPr lang="en-US" sz="1950" dirty="0"/>
          </a:p>
          <a:p>
            <a:pPr algn="l" marL="173355" indent="-173355">
              <a:lnSpc>
                <a:spcPct val="125357"/>
              </a:lnSpc>
              <a:buSzPct val="100000"/>
              <a:buChar char="•"/>
              <a:tabLst>
                <a:tab pos="173355" algn="l"/>
              </a:tabLst>
            </a:pPr>
            <a:r>
              <a:rPr lang="en-US" sz="1950" dirty="0">
                <a:solidFill>
                  <a:srgbClr val="DDE3EE"/>
                </a:solidFill>
                <a:latin typeface="Figtree" pitchFamily="34" charset="0"/>
                <a:ea typeface="Figtree" pitchFamily="34" charset="-122"/>
                <a:cs typeface="Figtree" pitchFamily="34" charset="-120"/>
              </a:rPr>
              <a:t>Fix disabled-button state</a:t>
            </a:r>
            <a:endParaRPr lang="en-US" sz="1950" dirty="0"/>
          </a:p>
        </p:txBody>
      </p:sp>
      <p:sp>
        <p:nvSpPr>
          <p:cNvPr id="8" name="Shape 6"/>
          <p:cNvSpPr/>
          <p:nvPr/>
        </p:nvSpPr>
        <p:spPr>
          <a:xfrm>
            <a:off x="6546784" y="2419284"/>
            <a:ext cx="5194432" cy="7067683"/>
          </a:xfrm>
          <a:prstGeom prst="roundRect">
            <a:avLst>
              <a:gd name="adj" fmla="val 4034"/>
            </a:avLst>
          </a:prstGeom>
          <a:solidFill>
            <a:srgbClr val="17223B"/>
          </a:solidFill>
          <a:ln/>
        </p:spPr>
      </p:sp>
      <p:sp>
        <p:nvSpPr>
          <p:cNvPr id="9" name="Text 7"/>
          <p:cNvSpPr/>
          <p:nvPr/>
        </p:nvSpPr>
        <p:spPr>
          <a:xfrm>
            <a:off x="6889585" y="2800284"/>
            <a:ext cx="4959714" cy="355600"/>
          </a:xfrm>
          <a:prstGeom prst="rect">
            <a:avLst/>
          </a:prstGeom>
          <a:noFill/>
          <a:ln/>
        </p:spPr>
        <p:txBody>
          <a:bodyPr wrap="square" lIns="25400" tIns="25400" rIns="25400" bIns="25400" rtlCol="0" anchor="t">
            <a:normAutofit/>
          </a:bodyPr>
          <a:lstStyle/>
          <a:p>
            <a:pPr algn="l" indent="0" marL="0">
              <a:buNone/>
            </a:pPr>
            <a:r>
              <a:rPr lang="en-US" sz="2250" b="1" dirty="0">
                <a:solidFill>
                  <a:srgbClr val="FBB040"/>
                </a:solidFill>
                <a:latin typeface="Archivo" pitchFamily="34" charset="0"/>
                <a:ea typeface="Archivo" pitchFamily="34" charset="-122"/>
                <a:cs typeface="Archivo" pitchFamily="34" charset="-120"/>
              </a:rPr>
              <a:t>This quarter</a:t>
            </a:r>
            <a:endParaRPr lang="en-US" sz="2250" dirty="0"/>
          </a:p>
        </p:txBody>
      </p:sp>
      <p:sp>
        <p:nvSpPr>
          <p:cNvPr id="10" name="Text 8"/>
          <p:cNvSpPr/>
          <p:nvPr/>
        </p:nvSpPr>
        <p:spPr>
          <a:xfrm>
            <a:off x="6889585" y="3174835"/>
            <a:ext cx="4959714" cy="313267"/>
          </a:xfrm>
          <a:prstGeom prst="rect">
            <a:avLst/>
          </a:prstGeom>
          <a:noFill/>
          <a:ln/>
        </p:spPr>
        <p:txBody>
          <a:bodyPr wrap="square" lIns="25400" tIns="25400" rIns="25400" bIns="25400" rtlCol="0" anchor="t">
            <a:normAutofit/>
          </a:bodyPr>
          <a:lstStyle/>
          <a:p>
            <a:pPr algn="l" indent="0" marL="0">
              <a:buNone/>
            </a:pPr>
            <a:r>
              <a:rPr lang="en-US" sz="1800" dirty="0">
                <a:solidFill>
                  <a:srgbClr val="9AA6BC"/>
                </a:solidFill>
                <a:latin typeface="Figtree" pitchFamily="34" charset="0"/>
                <a:ea typeface="Figtree" pitchFamily="34" charset="-122"/>
                <a:cs typeface="Figtree" pitchFamily="34" charset="-120"/>
              </a:rPr>
              <a:t>High-impact bets</a:t>
            </a:r>
            <a:endParaRPr lang="en-US" sz="1800" dirty="0"/>
          </a:p>
        </p:txBody>
      </p:sp>
      <p:sp>
        <p:nvSpPr>
          <p:cNvPr id="11" name="Text 9"/>
          <p:cNvSpPr/>
          <p:nvPr/>
        </p:nvSpPr>
        <p:spPr>
          <a:xfrm>
            <a:off x="6944764" y="3678535"/>
            <a:ext cx="4529852" cy="1924249"/>
          </a:xfrm>
          <a:prstGeom prst="rect">
            <a:avLst/>
          </a:prstGeom>
          <a:noFill/>
          <a:ln/>
        </p:spPr>
        <p:txBody>
          <a:bodyPr wrap="square" lIns="25400" tIns="25400" rIns="25400" bIns="25400" rtlCol="0" anchor="t">
            <a:normAutofit/>
          </a:bodyPr>
          <a:lstStyle/>
          <a:p>
            <a:pPr algn="l" marL="173355" indent="-173355">
              <a:lnSpc>
                <a:spcPct val="125357"/>
              </a:lnSpc>
              <a:buSzPct val="100000"/>
              <a:buChar char="•"/>
              <a:tabLst>
                <a:tab pos="173355" algn="l"/>
              </a:tabLst>
            </a:pPr>
            <a:r>
              <a:rPr lang="en-US" sz="1950" dirty="0">
                <a:solidFill>
                  <a:srgbClr val="DDE3EE"/>
                </a:solidFill>
                <a:latin typeface="Figtree" pitchFamily="34" charset="0"/>
                <a:ea typeface="Figtree" pitchFamily="34" charset="-122"/>
                <a:cs typeface="Figtree" pitchFamily="34" charset="-120"/>
              </a:rPr>
              <a:t>ETA + price before commit</a:t>
            </a:r>
            <a:endParaRPr lang="en-US" sz="1950" dirty="0"/>
          </a:p>
          <a:p>
            <a:pPr algn="l" marL="173355" indent="-173355">
              <a:lnSpc>
                <a:spcPct val="125357"/>
              </a:lnSpc>
              <a:buSzPct val="100000"/>
              <a:buChar char="•"/>
              <a:tabLst>
                <a:tab pos="173355" algn="l"/>
              </a:tabLst>
            </a:pPr>
            <a:r>
              <a:rPr lang="en-US" sz="1950" dirty="0">
                <a:solidFill>
                  <a:srgbClr val="DDE3EE"/>
                </a:solidFill>
                <a:latin typeface="Figtree" pitchFamily="34" charset="0"/>
                <a:ea typeface="Figtree" pitchFamily="34" charset="-122"/>
                <a:cs typeface="Figtree" pitchFamily="34" charset="-120"/>
              </a:rPr>
              <a:t>Phone-OTP sign-in</a:t>
            </a:r>
            <a:endParaRPr lang="en-US" sz="1950" dirty="0"/>
          </a:p>
          <a:p>
            <a:pPr algn="l" marL="173355" indent="-173355">
              <a:lnSpc>
                <a:spcPct val="125357"/>
              </a:lnSpc>
              <a:buSzPct val="100000"/>
              <a:buChar char="•"/>
              <a:tabLst>
                <a:tab pos="173355" algn="l"/>
              </a:tabLst>
            </a:pPr>
            <a:r>
              <a:rPr lang="en-US" sz="1950" dirty="0">
                <a:solidFill>
                  <a:srgbClr val="DDE3EE"/>
                </a:solidFill>
                <a:latin typeface="Figtree" pitchFamily="34" charset="0"/>
                <a:ea typeface="Figtree" pitchFamily="34" charset="-122"/>
                <a:cs typeface="Figtree" pitchFamily="34" charset="-120"/>
              </a:rPr>
              <a:t>Portal setup checklist</a:t>
            </a:r>
            <a:endParaRPr lang="en-US" sz="1950" dirty="0"/>
          </a:p>
          <a:p>
            <a:pPr algn="l" marL="173355" indent="-173355">
              <a:lnSpc>
                <a:spcPct val="125357"/>
              </a:lnSpc>
              <a:buSzPct val="100000"/>
              <a:buChar char="•"/>
              <a:tabLst>
                <a:tab pos="173355" algn="l"/>
              </a:tabLst>
            </a:pPr>
            <a:r>
              <a:rPr lang="en-US" sz="1950" dirty="0">
                <a:solidFill>
                  <a:srgbClr val="DDE3EE"/>
                </a:solidFill>
                <a:latin typeface="Figtree" pitchFamily="34" charset="0"/>
                <a:ea typeface="Figtree" pitchFamily="34" charset="-122"/>
                <a:cs typeface="Figtree" pitchFamily="34" charset="-120"/>
              </a:rPr>
              <a:t>Trust badges in the flow</a:t>
            </a:r>
            <a:endParaRPr lang="en-US" sz="1950" dirty="0"/>
          </a:p>
        </p:txBody>
      </p:sp>
      <p:sp>
        <p:nvSpPr>
          <p:cNvPr id="12" name="Shape 10"/>
          <p:cNvSpPr/>
          <p:nvPr/>
        </p:nvSpPr>
        <p:spPr>
          <a:xfrm>
            <a:off x="12045983" y="2419284"/>
            <a:ext cx="5194267" cy="7067683"/>
          </a:xfrm>
          <a:prstGeom prst="roundRect">
            <a:avLst>
              <a:gd name="adj" fmla="val 4034"/>
            </a:avLst>
          </a:prstGeom>
          <a:solidFill>
            <a:srgbClr val="17223B"/>
          </a:solidFill>
          <a:ln/>
        </p:spPr>
      </p:sp>
      <p:sp>
        <p:nvSpPr>
          <p:cNvPr id="13" name="Text 11"/>
          <p:cNvSpPr/>
          <p:nvPr/>
        </p:nvSpPr>
        <p:spPr>
          <a:xfrm>
            <a:off x="12388785" y="2800284"/>
            <a:ext cx="4959532" cy="355600"/>
          </a:xfrm>
          <a:prstGeom prst="rect">
            <a:avLst/>
          </a:prstGeom>
          <a:noFill/>
          <a:ln/>
        </p:spPr>
        <p:txBody>
          <a:bodyPr wrap="square" lIns="25400" tIns="25400" rIns="25400" bIns="25400" rtlCol="0" anchor="t">
            <a:normAutofit/>
          </a:bodyPr>
          <a:lstStyle/>
          <a:p>
            <a:pPr algn="l" indent="0" marL="0">
              <a:buNone/>
            </a:pPr>
            <a:r>
              <a:rPr lang="en-US" sz="2250" b="1" dirty="0">
                <a:solidFill>
                  <a:srgbClr val="FBB040"/>
                </a:solidFill>
                <a:latin typeface="Archivo" pitchFamily="34" charset="0"/>
                <a:ea typeface="Archivo" pitchFamily="34" charset="-122"/>
                <a:cs typeface="Archivo" pitchFamily="34" charset="-120"/>
              </a:rPr>
              <a:t>Ongoing</a:t>
            </a:r>
            <a:endParaRPr lang="en-US" sz="2250" dirty="0"/>
          </a:p>
        </p:txBody>
      </p:sp>
      <p:sp>
        <p:nvSpPr>
          <p:cNvPr id="14" name="Text 12"/>
          <p:cNvSpPr/>
          <p:nvPr/>
        </p:nvSpPr>
        <p:spPr>
          <a:xfrm>
            <a:off x="12388785" y="3174835"/>
            <a:ext cx="4959532" cy="313267"/>
          </a:xfrm>
          <a:prstGeom prst="rect">
            <a:avLst/>
          </a:prstGeom>
          <a:noFill/>
          <a:ln/>
        </p:spPr>
        <p:txBody>
          <a:bodyPr wrap="square" lIns="25400" tIns="25400" rIns="25400" bIns="25400" rtlCol="0" anchor="t">
            <a:normAutofit/>
          </a:bodyPr>
          <a:lstStyle/>
          <a:p>
            <a:pPr algn="l" indent="0" marL="0">
              <a:buNone/>
            </a:pPr>
            <a:r>
              <a:rPr lang="en-US" sz="1800" dirty="0">
                <a:solidFill>
                  <a:srgbClr val="9AA6BC"/>
                </a:solidFill>
                <a:latin typeface="Figtree" pitchFamily="34" charset="0"/>
                <a:ea typeface="Figtree" pitchFamily="34" charset="-122"/>
                <a:cs typeface="Figtree" pitchFamily="34" charset="-120"/>
              </a:rPr>
              <a:t>Polish &amp; system</a:t>
            </a:r>
            <a:endParaRPr lang="en-US" sz="1800" dirty="0"/>
          </a:p>
        </p:txBody>
      </p:sp>
      <p:sp>
        <p:nvSpPr>
          <p:cNvPr id="15" name="Text 13"/>
          <p:cNvSpPr/>
          <p:nvPr/>
        </p:nvSpPr>
        <p:spPr>
          <a:xfrm>
            <a:off x="12443963" y="3678535"/>
            <a:ext cx="4529687" cy="1419391"/>
          </a:xfrm>
          <a:prstGeom prst="rect">
            <a:avLst/>
          </a:prstGeom>
          <a:noFill/>
          <a:ln/>
        </p:spPr>
        <p:txBody>
          <a:bodyPr wrap="square" lIns="25400" tIns="25400" rIns="25400" bIns="25400" rtlCol="0" anchor="t">
            <a:normAutofit/>
          </a:bodyPr>
          <a:lstStyle/>
          <a:p>
            <a:pPr algn="l" marL="173355" indent="-173355">
              <a:lnSpc>
                <a:spcPct val="125357"/>
              </a:lnSpc>
              <a:buSzPct val="100000"/>
              <a:buChar char="•"/>
              <a:tabLst>
                <a:tab pos="173355" algn="l"/>
              </a:tabLst>
            </a:pPr>
            <a:r>
              <a:rPr lang="en-US" sz="1950" dirty="0">
                <a:solidFill>
                  <a:srgbClr val="DDE3EE"/>
                </a:solidFill>
                <a:latin typeface="Figtree" pitchFamily="34" charset="0"/>
                <a:ea typeface="Figtree" pitchFamily="34" charset="-122"/>
                <a:cs typeface="Figtree" pitchFamily="34" charset="-120"/>
              </a:rPr>
              <a:t>Custom trade icon set</a:t>
            </a:r>
            <a:endParaRPr lang="en-US" sz="1950" dirty="0"/>
          </a:p>
          <a:p>
            <a:pPr algn="l" marL="173355" indent="-173355">
              <a:lnSpc>
                <a:spcPct val="125357"/>
              </a:lnSpc>
              <a:buSzPct val="100000"/>
              <a:buChar char="•"/>
              <a:tabLst>
                <a:tab pos="173355" algn="l"/>
              </a:tabLst>
            </a:pPr>
            <a:r>
              <a:rPr lang="en-US" sz="1950" dirty="0">
                <a:solidFill>
                  <a:srgbClr val="DDE3EE"/>
                </a:solidFill>
                <a:latin typeface="Figtree" pitchFamily="34" charset="0"/>
                <a:ea typeface="Figtree" pitchFamily="34" charset="-122"/>
                <a:cs typeface="Figtree" pitchFamily="34" charset="-120"/>
              </a:rPr>
              <a:t>Split timing &amp; emergency UX</a:t>
            </a:r>
            <a:endParaRPr lang="en-US" sz="1950" dirty="0"/>
          </a:p>
          <a:p>
            <a:pPr algn="l" marL="173355" indent="-173355">
              <a:lnSpc>
                <a:spcPct val="125357"/>
              </a:lnSpc>
              <a:buSzPct val="100000"/>
              <a:buChar char="•"/>
              <a:tabLst>
                <a:tab pos="173355" algn="l"/>
              </a:tabLst>
            </a:pPr>
            <a:r>
              <a:rPr lang="en-US" sz="1950" dirty="0">
                <a:solidFill>
                  <a:srgbClr val="DDE3EE"/>
                </a:solidFill>
                <a:latin typeface="Figtree" pitchFamily="34" charset="0"/>
                <a:ea typeface="Figtree" pitchFamily="34" charset="-122"/>
                <a:cs typeface="Figtree" pitchFamily="34" charset="-120"/>
              </a:rPr>
              <a:t>Consistent spacing scale</a:t>
            </a:r>
            <a:endParaRPr lang="en-US" sz="1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424"/>
        </a:solidFill>
      </p:bgPr>
    </p:bg>
    <p:spTree>
      <p:nvGrpSpPr>
        <p:cNvPr id="1" name=""/>
        <p:cNvGrpSpPr/>
        <p:nvPr/>
      </p:nvGrpSpPr>
      <p:grpSpPr>
        <a:xfrm>
          <a:off x="0" y="0"/>
          <a:ext cx="0" cy="0"/>
          <a:chOff x="0" y="0"/>
          <a:chExt cx="0" cy="0"/>
        </a:xfrm>
      </p:grpSpPr>
      <p:sp>
        <p:nvSpPr>
          <p:cNvPr id="2" name="Text 0"/>
          <p:cNvSpPr/>
          <p:nvPr/>
        </p:nvSpPr>
        <p:spPr>
          <a:xfrm>
            <a:off x="1047750" y="2471705"/>
            <a:ext cx="17811751" cy="29210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F59B1E"/>
                </a:solidFill>
                <a:latin typeface="Archivo" pitchFamily="34" charset="0"/>
                <a:ea typeface="Archivo" pitchFamily="34" charset="-122"/>
                <a:cs typeface="Archivo" pitchFamily="34" charset="-120"/>
              </a:rPr>
              <a:t>THE TAKEAWAY</a:t>
            </a:r>
            <a:endParaRPr lang="en-US" sz="1800" dirty="0"/>
          </a:p>
        </p:txBody>
      </p:sp>
      <p:sp>
        <p:nvSpPr>
          <p:cNvPr id="3" name="Text 1"/>
          <p:cNvSpPr/>
          <p:nvPr/>
        </p:nvSpPr>
        <p:spPr>
          <a:xfrm>
            <a:off x="1047750" y="2992272"/>
            <a:ext cx="13735051" cy="2602905"/>
          </a:xfrm>
          <a:prstGeom prst="rect">
            <a:avLst/>
          </a:prstGeom>
          <a:noFill/>
          <a:ln/>
        </p:spPr>
        <p:txBody>
          <a:bodyPr wrap="square" lIns="25400" tIns="25400" rIns="25400" bIns="25400" rtlCol="0" anchor="t">
            <a:normAutofit/>
          </a:bodyPr>
          <a:lstStyle/>
          <a:p>
            <a:pPr algn="l" indent="0" marL="0">
              <a:lnSpc>
                <a:spcPct val="92855"/>
              </a:lnSpc>
              <a:buNone/>
            </a:pPr>
            <a:r>
              <a:rPr lang="en-US" sz="6600" b="1" spc="-198" kern="0" dirty="0">
                <a:solidFill>
                  <a:srgbClr val="EAEEF6"/>
                </a:solidFill>
                <a:latin typeface="Archivo" pitchFamily="34" charset="0"/>
                <a:ea typeface="Archivo" pitchFamily="34" charset="-122"/>
                <a:cs typeface="Archivo" pitchFamily="34" charset="-120"/>
              </a:rPr>
              <a:t>A good product that looks unfinished — and hides its best line.</a:t>
            </a:r>
            <a:endParaRPr lang="en-US" sz="6600" dirty="0"/>
          </a:p>
        </p:txBody>
      </p:sp>
      <p:sp>
        <p:nvSpPr>
          <p:cNvPr id="4" name="Text 2"/>
          <p:cNvSpPr/>
          <p:nvPr/>
        </p:nvSpPr>
        <p:spPr>
          <a:xfrm>
            <a:off x="1047750" y="5938077"/>
            <a:ext cx="11282363" cy="1032603"/>
          </a:xfrm>
          <a:prstGeom prst="rect">
            <a:avLst/>
          </a:prstGeom>
          <a:noFill/>
          <a:ln/>
        </p:spPr>
        <p:txBody>
          <a:bodyPr wrap="square" lIns="25400" tIns="25400" rIns="25400" bIns="25400" rtlCol="0" anchor="t">
            <a:normAutofit/>
          </a:bodyPr>
          <a:lstStyle/>
          <a:p>
            <a:pPr algn="l" indent="0" marL="0">
              <a:lnSpc>
                <a:spcPct val="120462"/>
              </a:lnSpc>
              <a:buNone/>
            </a:pPr>
            <a:r>
              <a:rPr lang="en-US" sz="2700" dirty="0">
                <a:solidFill>
                  <a:srgbClr val="9AA6BC"/>
                </a:solidFill>
                <a:latin typeface="Figtree" pitchFamily="34" charset="0"/>
                <a:ea typeface="Figtree" pitchFamily="34" charset="-122"/>
                <a:cs typeface="Figtree" pitchFamily="34" charset="-120"/>
              </a:rPr>
              <a:t>Close the visual leaks, then put "fast, verified, priced upfront" on the screens where people decide. Same app, far better conversion.</a:t>
            </a:r>
            <a:endParaRPr lang="en-US" sz="2700" dirty="0"/>
          </a:p>
        </p:txBody>
      </p:sp>
      <p:sp>
        <p:nvSpPr>
          <p:cNvPr id="5" name="Text 3"/>
          <p:cNvSpPr/>
          <p:nvPr/>
        </p:nvSpPr>
        <p:spPr>
          <a:xfrm>
            <a:off x="1047750" y="7465880"/>
            <a:ext cx="17811751" cy="387350"/>
          </a:xfrm>
          <a:prstGeom prst="rect">
            <a:avLst/>
          </a:prstGeom>
          <a:noFill/>
          <a:ln/>
        </p:spPr>
        <p:txBody>
          <a:bodyPr wrap="square" lIns="25400" tIns="25400" rIns="25400" bIns="25400" rtlCol="0" anchor="t">
            <a:normAutofit/>
          </a:bodyPr>
          <a:lstStyle/>
          <a:p>
            <a:pPr algn="l" indent="0" marL="0">
              <a:buNone/>
            </a:pPr>
            <a:r>
              <a:rPr lang="en-US" sz="2250" dirty="0">
                <a:solidFill>
                  <a:srgbClr val="8A97AE"/>
                </a:solidFill>
                <a:latin typeface="Figtree" pitchFamily="34" charset="0"/>
                <a:ea typeface="Figtree" pitchFamily="34" charset="-122"/>
                <a:cs typeface="Figtree" pitchFamily="34" charset="-120"/>
              </a:rPr>
              <a:t>Happy to mock up any of these fixes as clickable Android screens — just say which.</a:t>
            </a:r>
            <a:endParaRPr lang="en-US" sz="2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2026-07-13T20:23:04Z</dcterms:created>
  <dcterms:modified xsi:type="dcterms:W3CDTF">2026-07-13T20:23:04Z</dcterms:modified>
</cp:coreProperties>
</file>